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500" b="1">
                <a:solidFill>
                  <a:srgbClr val="FFFFFF"/>
                </a:solidFill>
                <a:latin typeface="Calibri"/>
              </a:rPr>
              <a:t>How many of the top 5 resumes were a good fit? (Precision@5)</a:t>
            </a:r>
          </a:p>
        </c:rich>
      </c:tx>
      <c:layout/>
      <c:overlay val="0"/>
    </c:title>
    <c:autoTitleDeleted val="0"/>
    <c:plotArea>
      <c:barChart>
        <c:barDir val="col"/>
        <c:grouping val="clustered"/>
        <c:varyColors val="0"/>
        <c:ser>
          <c:idx val="0"/>
          <c:order val="0"/>
          <c:tx>
            <c:strRef>
              <c:f>Sheet1!$B$1</c:f>
              <c:strCache>
                <c:ptCount val="1"/>
                <c:pt idx="0">
                  <c:v>Tech jobs dataset (166 resumes, 14 jobs)</c:v>
                </c:pt>
              </c:strCache>
            </c:strRef>
          </c:tx>
          <c:dPt>
            <c:idx val="0"/>
            <c:spPr>
              <a:solidFill>
                <a:srgbClr val="22D3EE"/>
              </a:solidFill>
            </c:spPr>
          </c:dPt>
          <c:dPt>
            <c:idx val="1"/>
            <c:spPr>
              <a:solidFill>
                <a:srgbClr val="3B82F6"/>
              </a:solidFill>
            </c:spPr>
          </c:dPt>
          <c:dPt>
            <c:idx val="2"/>
            <c:spPr>
              <a:solidFill>
                <a:srgbClr val="A78BFA"/>
              </a:solidFill>
            </c:spPr>
          </c:dPt>
          <c:dPt>
            <c:idx val="3"/>
            <c:spPr>
              <a:solidFill>
                <a:srgbClr val="34D399"/>
              </a:solidFill>
            </c:spPr>
          </c:dPt>
          <c:cat>
            <c:strRef>
              <c:f>Sheet1!$A$2:$A$5</c:f>
              <c:strCache>
                <c:ptCount val="4"/>
                <c:pt idx="0">
                  <c:v>TF-IDF</c:v>
                </c:pt>
                <c:pt idx="1">
                  <c:v>GloVe</c:v>
                </c:pt>
                <c:pt idx="2">
                  <c:v>Sentence-BERT</c:v>
                </c:pt>
                <c:pt idx="3">
                  <c:v>Hybrid</c:v>
                </c:pt>
              </c:strCache>
            </c:strRef>
          </c:cat>
          <c:val>
            <c:numRef>
              <c:f>Sheet1!$B$2:$B$5</c:f>
              <c:numCache>
                <c:formatCode>General</c:formatCode>
                <c:ptCount val="4"/>
                <c:pt idx="0">
                  <c:v>0.7857</c:v>
                </c:pt>
                <c:pt idx="1">
                  <c:v>0.4429</c:v>
                </c:pt>
                <c:pt idx="2">
                  <c:v>0.8143</c:v>
                </c:pt>
                <c:pt idx="3">
                  <c:v>0.8286</c:v>
                </c:pt>
              </c:numCache>
            </c:numRef>
          </c:val>
        </c:ser>
        <c:dLbls>
          <c:numFmt formatCode="0.00" sourceLinked="0"/>
          <c:txPr>
            <a:bodyPr/>
            <a:lstStyle/>
            <a:p>
              <a:pPr>
                <a:defRPr sz="1400" b="1">
                  <a:solidFill>
                    <a:srgbClr val="FFFFFF"/>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243B63"/>
            </a:solidFill>
          </a:ln>
        </c:spPr>
        <c:txPr>
          <a:bodyPr/>
          <a:lstStyle/>
          <a:p>
            <a:pPr>
              <a:defRPr sz="1300">
                <a:solidFill>
                  <a:srgbClr val="C9DBF5"/>
                </a:solidFill>
                <a:latin typeface="Calibri"/>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243B63"/>
              </a:solidFill>
            </a:ln>
          </c:spPr>
        </c:majorGridlines>
        <c:numFmt formatCode="0.00" sourceLinked="0"/>
        <c:majorTickMark val="out"/>
        <c:minorTickMark val="none"/>
        <c:tickLblPos val="nextTo"/>
        <c:spPr>
          <a:ln>
            <a:noFill/>
          </a:ln>
        </c:spPr>
        <c:txPr>
          <a:bodyPr/>
          <a:lstStyle/>
          <a:p>
            <a:pPr>
              <a:defRPr sz="1200">
                <a:solidFill>
                  <a:srgbClr val="8FA3C2"/>
                </a:solidFill>
                <a:latin typeface="Calibri"/>
              </a:defRPr>
            </a:pPr>
          </a:p>
        </c:txPr>
        <c:crossAx val="-2068027336"/>
        <c:crosses val="autoZero"/>
        <c:majorUnit val="0.25"/>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40080" y="1051560"/>
            <a:ext cx="6035040" cy="320040"/>
          </a:xfrm>
          <a:prstGeom prst="rect">
            <a:avLst/>
          </a:prstGeom>
          <a:noFill/>
        </p:spPr>
        <p:txBody>
          <a:bodyPr wrap="square" lIns="0" rIns="0" tIns="0" bIns="0" anchor="t">
            <a:spAutoFit/>
          </a:bodyPr>
          <a:lstStyle/>
          <a:p>
            <a:pPr algn="l"/>
            <a:r>
              <a:rPr sz="1400" b="1" i="0">
                <a:solidFill>
                  <a:srgbClr val="22D3EE"/>
                </a:solidFill>
                <a:latin typeface="Calibri"/>
              </a:rPr>
              <a:t>B.TECH CSE  ·  MILESTONE 3 EVALUATION</a:t>
            </a:r>
          </a:p>
        </p:txBody>
      </p:sp>
      <p:sp>
        <p:nvSpPr>
          <p:cNvPr id="4" name="TextBox 3"/>
          <p:cNvSpPr txBox="1"/>
          <p:nvPr/>
        </p:nvSpPr>
        <p:spPr>
          <a:xfrm>
            <a:off x="640080" y="1417320"/>
            <a:ext cx="6217920" cy="1097280"/>
          </a:xfrm>
          <a:prstGeom prst="rect">
            <a:avLst/>
          </a:prstGeom>
          <a:noFill/>
        </p:spPr>
        <p:txBody>
          <a:bodyPr wrap="square" lIns="0" rIns="0" tIns="0" bIns="0" anchor="t">
            <a:spAutoFit/>
          </a:bodyPr>
          <a:lstStyle/>
          <a:p>
            <a:pPr algn="l"/>
            <a:r>
              <a:rPr sz="6600" b="1" i="0">
                <a:solidFill>
                  <a:srgbClr val="FFFFFF"/>
                </a:solidFill>
                <a:latin typeface="Calibri"/>
              </a:rPr>
              <a:t>Resume Matcher</a:t>
            </a:r>
          </a:p>
        </p:txBody>
      </p:sp>
      <p:sp>
        <p:nvSpPr>
          <p:cNvPr id="5" name="TextBox 4"/>
          <p:cNvSpPr txBox="1"/>
          <p:nvPr/>
        </p:nvSpPr>
        <p:spPr>
          <a:xfrm>
            <a:off x="640080" y="2606040"/>
            <a:ext cx="5760720" cy="822960"/>
          </a:xfrm>
          <a:prstGeom prst="rect">
            <a:avLst/>
          </a:prstGeom>
          <a:noFill/>
        </p:spPr>
        <p:txBody>
          <a:bodyPr wrap="square" lIns="0" rIns="0" tIns="0" bIns="0" anchor="t">
            <a:spAutoFit/>
          </a:bodyPr>
          <a:lstStyle/>
          <a:p>
            <a:pPr algn="l"/>
            <a:r>
              <a:rPr sz="2200" b="0" i="0">
                <a:solidFill>
                  <a:srgbClr val="C9DBF5"/>
                </a:solidFill>
                <a:latin typeface="Calibri"/>
              </a:rPr>
              <a:t>Finds the best resumes for a job, automatically, by comparing their text</a:t>
            </a:r>
          </a:p>
        </p:txBody>
      </p:sp>
      <p:sp>
        <p:nvSpPr>
          <p:cNvPr id="6" name="Rounded Rectangle 5"/>
          <p:cNvSpPr/>
          <p:nvPr/>
        </p:nvSpPr>
        <p:spPr>
          <a:xfrm>
            <a:off x="640080" y="3611880"/>
            <a:ext cx="1051560" cy="384048"/>
          </a:xfrm>
          <a:prstGeom prst="roundRect">
            <a:avLst>
              <a:gd name="adj" fmla="val 50000"/>
            </a:avLst>
          </a:prstGeom>
          <a:solidFill>
            <a:srgbClr val="111F3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300" b="1">
                <a:solidFill>
                  <a:srgbClr val="22D3EE"/>
                </a:solidFill>
                <a:latin typeface="Calibri"/>
              </a:rPr>
              <a:t>TF-IDF</a:t>
            </a:r>
          </a:p>
        </p:txBody>
      </p:sp>
      <p:sp>
        <p:nvSpPr>
          <p:cNvPr id="7" name="Rounded Rectangle 6"/>
          <p:cNvSpPr/>
          <p:nvPr/>
        </p:nvSpPr>
        <p:spPr>
          <a:xfrm>
            <a:off x="1828799" y="3611880"/>
            <a:ext cx="960120" cy="384048"/>
          </a:xfrm>
          <a:prstGeom prst="roundRect">
            <a:avLst>
              <a:gd name="adj" fmla="val 50000"/>
            </a:avLst>
          </a:prstGeom>
          <a:solidFill>
            <a:srgbClr val="111F3A"/>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300" b="1">
                <a:solidFill>
                  <a:srgbClr val="3B82F6"/>
                </a:solidFill>
                <a:latin typeface="Calibri"/>
              </a:rPr>
              <a:t>GloVe</a:t>
            </a:r>
          </a:p>
        </p:txBody>
      </p:sp>
      <p:sp>
        <p:nvSpPr>
          <p:cNvPr id="8" name="Rounded Rectangle 7"/>
          <p:cNvSpPr/>
          <p:nvPr/>
        </p:nvSpPr>
        <p:spPr>
          <a:xfrm>
            <a:off x="2926080" y="3611880"/>
            <a:ext cx="1600200" cy="384048"/>
          </a:xfrm>
          <a:prstGeom prst="roundRect">
            <a:avLst>
              <a:gd name="adj" fmla="val 50000"/>
            </a:avLst>
          </a:prstGeom>
          <a:solidFill>
            <a:srgbClr val="111F3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300" b="1">
                <a:solidFill>
                  <a:srgbClr val="A78BFA"/>
                </a:solidFill>
                <a:latin typeface="Calibri"/>
              </a:rPr>
              <a:t>Sentence-BERT</a:t>
            </a:r>
          </a:p>
        </p:txBody>
      </p:sp>
      <p:sp>
        <p:nvSpPr>
          <p:cNvPr id="9" name="Rounded Rectangle 8"/>
          <p:cNvSpPr/>
          <p:nvPr/>
        </p:nvSpPr>
        <p:spPr>
          <a:xfrm>
            <a:off x="4663440" y="3611880"/>
            <a:ext cx="1005840" cy="384048"/>
          </a:xfrm>
          <a:prstGeom prst="roundRect">
            <a:avLst>
              <a:gd name="adj" fmla="val 50000"/>
            </a:avLst>
          </a:prstGeom>
          <a:solidFill>
            <a:srgbClr val="111F3A"/>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300" b="1">
                <a:solidFill>
                  <a:srgbClr val="34D399"/>
                </a:solidFill>
                <a:latin typeface="Calibri"/>
              </a:rPr>
              <a:t>Hybrid</a:t>
            </a:r>
          </a:p>
        </p:txBody>
      </p:sp>
      <p:sp>
        <p:nvSpPr>
          <p:cNvPr id="10" name="TextBox 9"/>
          <p:cNvSpPr txBox="1"/>
          <p:nvPr/>
        </p:nvSpPr>
        <p:spPr>
          <a:xfrm>
            <a:off x="640080" y="4343400"/>
            <a:ext cx="5486400" cy="274320"/>
          </a:xfrm>
          <a:prstGeom prst="rect">
            <a:avLst/>
          </a:prstGeom>
          <a:noFill/>
        </p:spPr>
        <p:txBody>
          <a:bodyPr wrap="square" lIns="0" rIns="0" tIns="0" bIns="0" anchor="t">
            <a:spAutoFit/>
          </a:bodyPr>
          <a:lstStyle/>
          <a:p>
            <a:pPr algn="l"/>
            <a:r>
              <a:rPr sz="1200" b="1" i="0">
                <a:solidFill>
                  <a:srgbClr val="8FA3C2"/>
                </a:solidFill>
                <a:latin typeface="Calibri"/>
              </a:rPr>
              <a:t>TEAM  ·  BATCH NUMBER 3</a:t>
            </a:r>
          </a:p>
        </p:txBody>
      </p:sp>
      <p:sp>
        <p:nvSpPr>
          <p:cNvPr id="11" name="Rounded Rectangle 10"/>
          <p:cNvSpPr/>
          <p:nvPr/>
        </p:nvSpPr>
        <p:spPr>
          <a:xfrm>
            <a:off x="640080" y="4663440"/>
            <a:ext cx="2788920" cy="960120"/>
          </a:xfrm>
          <a:prstGeom prst="roundRect">
            <a:avLst>
              <a:gd name="adj" fmla="val 8000"/>
            </a:avLst>
          </a:prstGeom>
          <a:solidFill>
            <a:srgbClr val="111F3A"/>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59" y="4910328"/>
            <a:ext cx="457200" cy="4572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A1226"/>
                </a:solidFill>
                <a:latin typeface="Calibri"/>
              </a:rPr>
              <a:t>YA</a:t>
            </a:r>
          </a:p>
        </p:txBody>
      </p:sp>
      <p:sp>
        <p:nvSpPr>
          <p:cNvPr id="13" name="TextBox 12"/>
          <p:cNvSpPr txBox="1"/>
          <p:nvPr/>
        </p:nvSpPr>
        <p:spPr>
          <a:xfrm>
            <a:off x="1417319" y="4818888"/>
            <a:ext cx="1920240" cy="365760"/>
          </a:xfrm>
          <a:prstGeom prst="rect">
            <a:avLst/>
          </a:prstGeom>
          <a:noFill/>
        </p:spPr>
        <p:txBody>
          <a:bodyPr wrap="square" lIns="0" rIns="0" tIns="0" bIns="0" anchor="t">
            <a:spAutoFit/>
          </a:bodyPr>
          <a:lstStyle/>
          <a:p>
            <a:pPr algn="l"/>
            <a:r>
              <a:rPr sz="1800" b="1" i="0">
                <a:solidFill>
                  <a:srgbClr val="FFFFFF"/>
                </a:solidFill>
                <a:latin typeface="Calibri"/>
              </a:rPr>
              <a:t>Yash Agarwal</a:t>
            </a:r>
          </a:p>
        </p:txBody>
      </p:sp>
      <p:sp>
        <p:nvSpPr>
          <p:cNvPr id="14" name="TextBox 13"/>
          <p:cNvSpPr txBox="1"/>
          <p:nvPr/>
        </p:nvSpPr>
        <p:spPr>
          <a:xfrm>
            <a:off x="1417319" y="5184648"/>
            <a:ext cx="1920240" cy="320040"/>
          </a:xfrm>
          <a:prstGeom prst="rect">
            <a:avLst/>
          </a:prstGeom>
          <a:noFill/>
        </p:spPr>
        <p:txBody>
          <a:bodyPr wrap="square" lIns="0" rIns="0" tIns="0" bIns="0" anchor="t">
            <a:spAutoFit/>
          </a:bodyPr>
          <a:lstStyle/>
          <a:p>
            <a:pPr algn="l"/>
            <a:r>
              <a:rPr sz="1400" b="1" i="0">
                <a:solidFill>
                  <a:srgbClr val="22D3EE"/>
                </a:solidFill>
                <a:latin typeface="Courier New"/>
              </a:rPr>
              <a:t>S24CSEU0244</a:t>
            </a:r>
          </a:p>
        </p:txBody>
      </p:sp>
      <p:sp>
        <p:nvSpPr>
          <p:cNvPr id="15" name="Rounded Rectangle 14"/>
          <p:cNvSpPr/>
          <p:nvPr/>
        </p:nvSpPr>
        <p:spPr>
          <a:xfrm>
            <a:off x="3611880" y="4663440"/>
            <a:ext cx="2788920" cy="960120"/>
          </a:xfrm>
          <a:prstGeom prst="roundRect">
            <a:avLst>
              <a:gd name="adj" fmla="val 8000"/>
            </a:avLst>
          </a:prstGeom>
          <a:solidFill>
            <a:srgbClr val="111F3A"/>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794760" y="4910328"/>
            <a:ext cx="457200" cy="4572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A1226"/>
                </a:solidFill>
                <a:latin typeface="Calibri"/>
              </a:rPr>
              <a:t>RS</a:t>
            </a:r>
          </a:p>
        </p:txBody>
      </p:sp>
      <p:sp>
        <p:nvSpPr>
          <p:cNvPr id="17" name="TextBox 16"/>
          <p:cNvSpPr txBox="1"/>
          <p:nvPr/>
        </p:nvSpPr>
        <p:spPr>
          <a:xfrm>
            <a:off x="4389120" y="4818888"/>
            <a:ext cx="1920240" cy="365760"/>
          </a:xfrm>
          <a:prstGeom prst="rect">
            <a:avLst/>
          </a:prstGeom>
          <a:noFill/>
        </p:spPr>
        <p:txBody>
          <a:bodyPr wrap="square" lIns="0" rIns="0" tIns="0" bIns="0" anchor="t">
            <a:spAutoFit/>
          </a:bodyPr>
          <a:lstStyle/>
          <a:p>
            <a:pPr algn="l"/>
            <a:r>
              <a:rPr sz="1800" b="1" i="0">
                <a:solidFill>
                  <a:srgbClr val="FFFFFF"/>
                </a:solidFill>
                <a:latin typeface="Calibri"/>
              </a:rPr>
              <a:t>Raghav Soni</a:t>
            </a:r>
          </a:p>
        </p:txBody>
      </p:sp>
      <p:sp>
        <p:nvSpPr>
          <p:cNvPr id="18" name="TextBox 17"/>
          <p:cNvSpPr txBox="1"/>
          <p:nvPr/>
        </p:nvSpPr>
        <p:spPr>
          <a:xfrm>
            <a:off x="4389120" y="5184648"/>
            <a:ext cx="1920240" cy="320040"/>
          </a:xfrm>
          <a:prstGeom prst="rect">
            <a:avLst/>
          </a:prstGeom>
          <a:noFill/>
        </p:spPr>
        <p:txBody>
          <a:bodyPr wrap="square" lIns="0" rIns="0" tIns="0" bIns="0" anchor="t">
            <a:spAutoFit/>
          </a:bodyPr>
          <a:lstStyle/>
          <a:p>
            <a:pPr algn="l"/>
            <a:r>
              <a:rPr sz="1400" b="1" i="0">
                <a:solidFill>
                  <a:srgbClr val="22D3EE"/>
                </a:solidFill>
                <a:latin typeface="Courier New"/>
              </a:rPr>
              <a:t>S24CSEU0303</a:t>
            </a:r>
          </a:p>
        </p:txBody>
      </p:sp>
      <p:sp>
        <p:nvSpPr>
          <p:cNvPr id="19" name="TextBox 18"/>
          <p:cNvSpPr txBox="1"/>
          <p:nvPr/>
        </p:nvSpPr>
        <p:spPr>
          <a:xfrm>
            <a:off x="640080" y="5989320"/>
            <a:ext cx="5486400" cy="274320"/>
          </a:xfrm>
          <a:prstGeom prst="rect">
            <a:avLst/>
          </a:prstGeom>
          <a:noFill/>
        </p:spPr>
        <p:txBody>
          <a:bodyPr wrap="square" lIns="0" rIns="0" tIns="0" bIns="0" anchor="t">
            <a:spAutoFit/>
          </a:bodyPr>
          <a:lstStyle/>
          <a:p>
            <a:pPr algn="l"/>
            <a:r>
              <a:rPr sz="1300" b="0" i="0">
                <a:solidFill>
                  <a:srgbClr val="8FA3C2"/>
                </a:solidFill>
                <a:latin typeface="Calibri"/>
              </a:rPr>
              <a:t>27 October 2026</a:t>
            </a:r>
          </a:p>
        </p:txBody>
      </p:sp>
      <p:sp>
        <p:nvSpPr>
          <p:cNvPr id="20" name="Visual: job description"/>
          <p:cNvSpPr/>
          <p:nvPr/>
        </p:nvSpPr>
        <p:spPr>
          <a:xfrm>
            <a:off x="7086600" y="1737360"/>
            <a:ext cx="1737360" cy="2514600"/>
          </a:xfrm>
          <a:prstGeom prst="roundRect">
            <a:avLst>
              <a:gd name="adj" fmla="val 8000"/>
            </a:avLst>
          </a:prstGeom>
          <a:solidFill>
            <a:srgbClr val="111F3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9480" y="1874519"/>
            <a:ext cx="1463040" cy="274320"/>
          </a:xfrm>
          <a:prstGeom prst="rect">
            <a:avLst/>
          </a:prstGeom>
          <a:noFill/>
        </p:spPr>
        <p:txBody>
          <a:bodyPr wrap="square" lIns="0" rIns="0" tIns="0" bIns="0" anchor="t">
            <a:spAutoFit/>
          </a:bodyPr>
          <a:lstStyle/>
          <a:p>
            <a:pPr algn="l"/>
            <a:r>
              <a:rPr sz="1300" b="1" i="0">
                <a:solidFill>
                  <a:srgbClr val="22D3EE"/>
                </a:solidFill>
                <a:latin typeface="Calibri"/>
              </a:rPr>
              <a:t>Job Description</a:t>
            </a:r>
          </a:p>
        </p:txBody>
      </p:sp>
      <p:sp>
        <p:nvSpPr>
          <p:cNvPr id="22" name="Rounded Rectangle 21"/>
          <p:cNvSpPr/>
          <p:nvPr/>
        </p:nvSpPr>
        <p:spPr>
          <a:xfrm>
            <a:off x="7269480" y="2286000"/>
            <a:ext cx="1303019" cy="82296"/>
          </a:xfrm>
          <a:prstGeom prst="roundRect">
            <a:avLst>
              <a:gd name="adj" fmla="val 50000"/>
            </a:avLst>
          </a:prstGeom>
          <a:solidFill>
            <a:srgbClr val="8FA3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269480" y="2532888"/>
            <a:ext cx="1097280" cy="82296"/>
          </a:xfrm>
          <a:prstGeom prst="roundRect">
            <a:avLst>
              <a:gd name="adj" fmla="val 50000"/>
            </a:avLst>
          </a:prstGeom>
          <a:solidFill>
            <a:srgbClr val="24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269480" y="2779776"/>
            <a:ext cx="1234440" cy="82296"/>
          </a:xfrm>
          <a:prstGeom prst="roundRect">
            <a:avLst>
              <a:gd name="adj" fmla="val 50000"/>
            </a:avLst>
          </a:prstGeom>
          <a:solidFill>
            <a:srgbClr val="24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69480" y="3026664"/>
            <a:ext cx="822959" cy="82296"/>
          </a:xfrm>
          <a:prstGeom prst="roundRect">
            <a:avLst>
              <a:gd name="adj" fmla="val 50000"/>
            </a:avLst>
          </a:prstGeom>
          <a:solidFill>
            <a:srgbClr val="8FA3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269480" y="3273552"/>
            <a:ext cx="1165860" cy="82296"/>
          </a:xfrm>
          <a:prstGeom prst="roundRect">
            <a:avLst>
              <a:gd name="adj" fmla="val 50000"/>
            </a:avLst>
          </a:prstGeom>
          <a:solidFill>
            <a:srgbClr val="24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269480" y="3520440"/>
            <a:ext cx="960119" cy="82296"/>
          </a:xfrm>
          <a:prstGeom prst="roundRect">
            <a:avLst>
              <a:gd name="adj" fmla="val 50000"/>
            </a:avLst>
          </a:prstGeom>
          <a:solidFill>
            <a:srgbClr val="24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269480" y="3767328"/>
            <a:ext cx="685800" cy="82296"/>
          </a:xfrm>
          <a:prstGeom prst="roundRect">
            <a:avLst>
              <a:gd name="adj" fmla="val 50000"/>
            </a:avLst>
          </a:prstGeom>
          <a:solidFill>
            <a:srgbClr val="8FA3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098280" y="2578608"/>
            <a:ext cx="822960" cy="822960"/>
          </a:xfrm>
          <a:prstGeom prst="ellipse">
            <a:avLst/>
          </a:prstGeom>
          <a:solidFill>
            <a:srgbClr val="1629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2D3EE"/>
                </a:solidFill>
                <a:latin typeface="Calibri"/>
              </a:rPr>
              <a:t>AI</a:t>
            </a:r>
          </a:p>
        </p:txBody>
      </p:sp>
      <p:sp>
        <p:nvSpPr>
          <p:cNvPr id="30" name="Right Arrow 29"/>
          <p:cNvSpPr/>
          <p:nvPr/>
        </p:nvSpPr>
        <p:spPr>
          <a:xfrm>
            <a:off x="8869680" y="2852928"/>
            <a:ext cx="219456" cy="274320"/>
          </a:xfrm>
          <a:prstGeom prst="rightArrow">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ight Arrow 30"/>
          <p:cNvSpPr/>
          <p:nvPr/>
        </p:nvSpPr>
        <p:spPr>
          <a:xfrm>
            <a:off x="9966960" y="2852928"/>
            <a:ext cx="219456" cy="274320"/>
          </a:xfrm>
          <a:prstGeom prst="rightArrow">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Visual: ranked resume 1"/>
          <p:cNvSpPr/>
          <p:nvPr/>
        </p:nvSpPr>
        <p:spPr>
          <a:xfrm>
            <a:off x="10287000" y="1417320"/>
            <a:ext cx="1417320" cy="914400"/>
          </a:xfrm>
          <a:prstGeom prst="roundRect">
            <a:avLst>
              <a:gd name="adj" fmla="val 8000"/>
            </a:avLst>
          </a:prstGeom>
          <a:solidFill>
            <a:srgbClr val="111F3A"/>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405872" y="1527048"/>
            <a:ext cx="384048" cy="384048"/>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A1226"/>
                </a:solidFill>
                <a:latin typeface="Calibri"/>
              </a:rPr>
              <a:t>#1</a:t>
            </a:r>
          </a:p>
        </p:txBody>
      </p:sp>
      <p:sp>
        <p:nvSpPr>
          <p:cNvPr id="34" name="Rounded Rectangle 33"/>
          <p:cNvSpPr/>
          <p:nvPr/>
        </p:nvSpPr>
        <p:spPr>
          <a:xfrm>
            <a:off x="10881360" y="1600200"/>
            <a:ext cx="685800" cy="73152"/>
          </a:xfrm>
          <a:prstGeom prst="roundRect">
            <a:avLst>
              <a:gd name="adj" fmla="val 50000"/>
            </a:avLst>
          </a:prstGeom>
          <a:solidFill>
            <a:srgbClr val="8FA3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881360" y="1764792"/>
            <a:ext cx="502920" cy="73152"/>
          </a:xfrm>
          <a:prstGeom prst="roundRect">
            <a:avLst>
              <a:gd name="adj" fmla="val 50000"/>
            </a:avLst>
          </a:prstGeom>
          <a:solidFill>
            <a:srgbClr val="24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0405872" y="2075688"/>
            <a:ext cx="1188720" cy="91440"/>
          </a:xfrm>
          <a:prstGeom prst="roundRect">
            <a:avLst>
              <a:gd name="adj" fmla="val 50000"/>
            </a:avLst>
          </a:prstGeom>
          <a:solidFill>
            <a:srgbClr val="24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0405872" y="2075688"/>
            <a:ext cx="1093622" cy="91440"/>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Visual: ranked resume 2"/>
          <p:cNvSpPr/>
          <p:nvPr/>
        </p:nvSpPr>
        <p:spPr>
          <a:xfrm>
            <a:off x="10287000" y="2496312"/>
            <a:ext cx="1417320" cy="914400"/>
          </a:xfrm>
          <a:prstGeom prst="roundRect">
            <a:avLst>
              <a:gd name="adj" fmla="val 8000"/>
            </a:avLst>
          </a:prstGeom>
          <a:solidFill>
            <a:srgbClr val="111F3A"/>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405872" y="2606040"/>
            <a:ext cx="384048" cy="384048"/>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A1226"/>
                </a:solidFill>
                <a:latin typeface="Calibri"/>
              </a:rPr>
              <a:t>#2</a:t>
            </a:r>
          </a:p>
        </p:txBody>
      </p:sp>
      <p:sp>
        <p:nvSpPr>
          <p:cNvPr id="40" name="Rounded Rectangle 39"/>
          <p:cNvSpPr/>
          <p:nvPr/>
        </p:nvSpPr>
        <p:spPr>
          <a:xfrm>
            <a:off x="10881360" y="2679192"/>
            <a:ext cx="685800" cy="73152"/>
          </a:xfrm>
          <a:prstGeom prst="roundRect">
            <a:avLst>
              <a:gd name="adj" fmla="val 50000"/>
            </a:avLst>
          </a:prstGeom>
          <a:solidFill>
            <a:srgbClr val="8FA3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10881360" y="2843784"/>
            <a:ext cx="502920" cy="73152"/>
          </a:xfrm>
          <a:prstGeom prst="roundRect">
            <a:avLst>
              <a:gd name="adj" fmla="val 50000"/>
            </a:avLst>
          </a:prstGeom>
          <a:solidFill>
            <a:srgbClr val="24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10405872" y="3154680"/>
            <a:ext cx="1188720" cy="91440"/>
          </a:xfrm>
          <a:prstGeom prst="roundRect">
            <a:avLst>
              <a:gd name="adj" fmla="val 50000"/>
            </a:avLst>
          </a:prstGeom>
          <a:solidFill>
            <a:srgbClr val="24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10405872" y="3154680"/>
            <a:ext cx="855878" cy="91440"/>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Visual: ranked resume 3"/>
          <p:cNvSpPr/>
          <p:nvPr/>
        </p:nvSpPr>
        <p:spPr>
          <a:xfrm>
            <a:off x="10287000" y="3575304"/>
            <a:ext cx="1417320" cy="914400"/>
          </a:xfrm>
          <a:prstGeom prst="roundRect">
            <a:avLst>
              <a:gd name="adj" fmla="val 8000"/>
            </a:avLst>
          </a:prstGeom>
          <a:solidFill>
            <a:srgbClr val="111F3A"/>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0405872" y="3685032"/>
            <a:ext cx="384048" cy="384048"/>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A1226"/>
                </a:solidFill>
                <a:latin typeface="Calibri"/>
              </a:rPr>
              <a:t>#3</a:t>
            </a:r>
          </a:p>
        </p:txBody>
      </p:sp>
      <p:sp>
        <p:nvSpPr>
          <p:cNvPr id="46" name="Rounded Rectangle 45"/>
          <p:cNvSpPr/>
          <p:nvPr/>
        </p:nvSpPr>
        <p:spPr>
          <a:xfrm>
            <a:off x="10881360" y="3758184"/>
            <a:ext cx="685800" cy="73152"/>
          </a:xfrm>
          <a:prstGeom prst="roundRect">
            <a:avLst>
              <a:gd name="adj" fmla="val 50000"/>
            </a:avLst>
          </a:prstGeom>
          <a:solidFill>
            <a:srgbClr val="8FA3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10881360" y="3922776"/>
            <a:ext cx="502920" cy="73152"/>
          </a:xfrm>
          <a:prstGeom prst="roundRect">
            <a:avLst>
              <a:gd name="adj" fmla="val 50000"/>
            </a:avLst>
          </a:prstGeom>
          <a:solidFill>
            <a:srgbClr val="24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0405872" y="4233672"/>
            <a:ext cx="1188720" cy="91440"/>
          </a:xfrm>
          <a:prstGeom prst="roundRect">
            <a:avLst>
              <a:gd name="adj" fmla="val 50000"/>
            </a:avLst>
          </a:prstGeom>
          <a:solidFill>
            <a:srgbClr val="24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10405872" y="4233672"/>
            <a:ext cx="618134" cy="91440"/>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086600" y="4709160"/>
            <a:ext cx="4617720" cy="548640"/>
          </a:xfrm>
          <a:prstGeom prst="rect">
            <a:avLst/>
          </a:prstGeom>
          <a:noFill/>
        </p:spPr>
        <p:txBody>
          <a:bodyPr wrap="square" lIns="0" rIns="0" tIns="0" bIns="0" anchor="t">
            <a:spAutoFit/>
          </a:bodyPr>
          <a:lstStyle/>
          <a:p>
            <a:pPr algn="ctr"/>
            <a:r>
              <a:rPr sz="1300" b="0" i="1">
                <a:solidFill>
                  <a:srgbClr val="8FA3C2"/>
                </a:solidFill>
                <a:latin typeface="Calibri"/>
              </a:rPr>
              <a:t>You give it a job and some resumes. It sorts the resumes from best to worst match.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Eyebrow"/>
          <p:cNvSpPr txBox="1"/>
          <p:nvPr/>
        </p:nvSpPr>
        <p:spPr>
          <a:xfrm>
            <a:off x="548640" y="347472"/>
            <a:ext cx="8229600" cy="274320"/>
          </a:xfrm>
          <a:prstGeom prst="rect">
            <a:avLst/>
          </a:prstGeom>
          <a:noFill/>
        </p:spPr>
        <p:txBody>
          <a:bodyPr wrap="square" lIns="0" rIns="0" tIns="0" bIns="0" anchor="t">
            <a:spAutoFit/>
          </a:bodyPr>
          <a:lstStyle/>
          <a:p>
            <a:pPr algn="l"/>
            <a:r>
              <a:rPr sz="1300" b="1" i="0">
                <a:solidFill>
                  <a:srgbClr val="22D3EE"/>
                </a:solidFill>
                <a:latin typeface="Calibri"/>
              </a:rPr>
              <a:t>THE PROBLEM · OUR IDEA · THE DATA</a:t>
            </a:r>
          </a:p>
        </p:txBody>
      </p:sp>
      <p:sp>
        <p:nvSpPr>
          <p:cNvPr id="4" name="Title"/>
          <p:cNvSpPr txBox="1"/>
          <p:nvPr/>
        </p:nvSpPr>
        <p:spPr>
          <a:xfrm>
            <a:off x="548640" y="603504"/>
            <a:ext cx="11064240" cy="640080"/>
          </a:xfrm>
          <a:prstGeom prst="rect">
            <a:avLst/>
          </a:prstGeom>
          <a:noFill/>
        </p:spPr>
        <p:txBody>
          <a:bodyPr wrap="square" lIns="0" rIns="0" tIns="0" bIns="0" anchor="t">
            <a:spAutoFit/>
          </a:bodyPr>
          <a:lstStyle/>
          <a:p>
            <a:pPr algn="l"/>
            <a:r>
              <a:rPr sz="3400" b="1" i="0">
                <a:solidFill>
                  <a:srgbClr val="FFFFFF"/>
                </a:solidFill>
                <a:latin typeface="Calibri"/>
              </a:rPr>
              <a:t>Why do we need this?</a:t>
            </a:r>
          </a:p>
        </p:txBody>
      </p:sp>
      <p:sp>
        <p:nvSpPr>
          <p:cNvPr id="5" name="Footer"/>
          <p:cNvSpPr txBox="1"/>
          <p:nvPr/>
        </p:nvSpPr>
        <p:spPr>
          <a:xfrm>
            <a:off x="548640" y="6400800"/>
            <a:ext cx="6400800" cy="274320"/>
          </a:xfrm>
          <a:prstGeom prst="rect">
            <a:avLst/>
          </a:prstGeom>
          <a:noFill/>
        </p:spPr>
        <p:txBody>
          <a:bodyPr wrap="square" lIns="0" rIns="0" tIns="0" bIns="0" anchor="t">
            <a:spAutoFit/>
          </a:bodyPr>
          <a:lstStyle/>
          <a:p>
            <a:pPr algn="l"/>
            <a:r>
              <a:rPr sz="1100" b="0" i="0">
                <a:solidFill>
                  <a:srgbClr val="8FA3C2"/>
                </a:solidFill>
                <a:latin typeface="Calibri"/>
              </a:rPr>
              <a:t>Resume Matcher  ·  Milestone 3  ·  Batch 3</a:t>
            </a:r>
          </a:p>
        </p:txBody>
      </p:sp>
      <p:sp>
        <p:nvSpPr>
          <p:cNvPr id="6" name="Slide number"/>
          <p:cNvSpPr txBox="1"/>
          <p:nvPr/>
        </p:nvSpPr>
        <p:spPr>
          <a:xfrm>
            <a:off x="10698480" y="6400800"/>
            <a:ext cx="914400" cy="274320"/>
          </a:xfrm>
          <a:prstGeom prst="rect">
            <a:avLst/>
          </a:prstGeom>
          <a:noFill/>
        </p:spPr>
        <p:txBody>
          <a:bodyPr wrap="square" lIns="0" rIns="0" tIns="0" bIns="0" anchor="t">
            <a:spAutoFit/>
          </a:bodyPr>
          <a:lstStyle/>
          <a:p>
            <a:pPr algn="r"/>
            <a:r>
              <a:rPr sz="1100" b="0" i="0">
                <a:solidFill>
                  <a:srgbClr val="8FA3C2"/>
                </a:solidFill>
                <a:latin typeface="Calibri"/>
              </a:rPr>
              <a:t>2 / 7</a:t>
            </a:r>
          </a:p>
        </p:txBody>
      </p:sp>
      <p:sp>
        <p:nvSpPr>
          <p:cNvPr id="7" name="Rounded Rectangle 6"/>
          <p:cNvSpPr/>
          <p:nvPr/>
        </p:nvSpPr>
        <p:spPr>
          <a:xfrm>
            <a:off x="548640" y="1371600"/>
            <a:ext cx="5372100" cy="1874519"/>
          </a:xfrm>
          <a:prstGeom prst="roundRect">
            <a:avLst>
              <a:gd name="adj" fmla="val 8000"/>
            </a:avLst>
          </a:prstGeom>
          <a:solidFill>
            <a:srgbClr val="111F3A"/>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1600200"/>
            <a:ext cx="502920" cy="50292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0A1226"/>
                </a:solidFill>
                <a:latin typeface="Calibri"/>
              </a:rPr>
              <a:t>?</a:t>
            </a:r>
          </a:p>
        </p:txBody>
      </p:sp>
      <p:sp>
        <p:nvSpPr>
          <p:cNvPr id="9" name="TextBox 8"/>
          <p:cNvSpPr txBox="1"/>
          <p:nvPr/>
        </p:nvSpPr>
        <p:spPr>
          <a:xfrm>
            <a:off x="1463040" y="1536192"/>
            <a:ext cx="4251960" cy="365760"/>
          </a:xfrm>
          <a:prstGeom prst="rect">
            <a:avLst/>
          </a:prstGeom>
          <a:noFill/>
        </p:spPr>
        <p:txBody>
          <a:bodyPr wrap="square" lIns="0" rIns="0" tIns="0" bIns="0" anchor="t">
            <a:spAutoFit/>
          </a:bodyPr>
          <a:lstStyle/>
          <a:p>
            <a:pPr algn="l"/>
            <a:r>
              <a:rPr sz="2000" b="1" i="0">
                <a:solidFill>
                  <a:srgbClr val="FFFFFF"/>
                </a:solidFill>
                <a:latin typeface="Calibri"/>
              </a:rPr>
              <a:t>The problem</a:t>
            </a:r>
          </a:p>
        </p:txBody>
      </p:sp>
      <p:sp>
        <p:nvSpPr>
          <p:cNvPr id="10" name="TextBox 9"/>
          <p:cNvSpPr txBox="1"/>
          <p:nvPr/>
        </p:nvSpPr>
        <p:spPr>
          <a:xfrm>
            <a:off x="1463040" y="1938528"/>
            <a:ext cx="4251960" cy="1234440"/>
          </a:xfrm>
          <a:prstGeom prst="rect">
            <a:avLst/>
          </a:prstGeom>
          <a:noFill/>
        </p:spPr>
        <p:txBody>
          <a:bodyPr wrap="square" lIns="0" rIns="0" tIns="0" bIns="0" anchor="t">
            <a:spAutoFit/>
          </a:bodyPr>
          <a:lstStyle/>
          <a:p>
            <a:pPr algn="l"/>
            <a:r>
              <a:rPr sz="1500" b="0" i="0">
                <a:solidFill>
                  <a:srgbClr val="C9DBF5"/>
                </a:solidFill>
                <a:latin typeface="Calibri"/>
              </a:rPr>
              <a:t>A company can get hundreds of resumes for one job. Reading all of them takes a lot of time. A simple keyword search also misses good people who write the same skill in other words (for example "ML" instead of "Machine Learning").</a:t>
            </a:r>
          </a:p>
        </p:txBody>
      </p:sp>
      <p:sp>
        <p:nvSpPr>
          <p:cNvPr id="11" name="Rounded Rectangle 10"/>
          <p:cNvSpPr/>
          <p:nvPr/>
        </p:nvSpPr>
        <p:spPr>
          <a:xfrm>
            <a:off x="6240779" y="1371600"/>
            <a:ext cx="5372100" cy="1874519"/>
          </a:xfrm>
          <a:prstGeom prst="roundRect">
            <a:avLst>
              <a:gd name="adj" fmla="val 8000"/>
            </a:avLst>
          </a:prstGeom>
          <a:solidFill>
            <a:srgbClr val="111F3A"/>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69379" y="1600200"/>
            <a:ext cx="502920" cy="50292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0A1226"/>
                </a:solidFill>
                <a:latin typeface="Calibri"/>
              </a:rPr>
              <a:t>→</a:t>
            </a:r>
          </a:p>
        </p:txBody>
      </p:sp>
      <p:sp>
        <p:nvSpPr>
          <p:cNvPr id="13" name="TextBox 12"/>
          <p:cNvSpPr txBox="1"/>
          <p:nvPr/>
        </p:nvSpPr>
        <p:spPr>
          <a:xfrm>
            <a:off x="7155179" y="1536192"/>
            <a:ext cx="4251960" cy="365760"/>
          </a:xfrm>
          <a:prstGeom prst="rect">
            <a:avLst/>
          </a:prstGeom>
          <a:noFill/>
        </p:spPr>
        <p:txBody>
          <a:bodyPr wrap="square" lIns="0" rIns="0" tIns="0" bIns="0" anchor="t">
            <a:spAutoFit/>
          </a:bodyPr>
          <a:lstStyle/>
          <a:p>
            <a:pPr algn="l"/>
            <a:r>
              <a:rPr sz="2000" b="1" i="0">
                <a:solidFill>
                  <a:srgbClr val="FFFFFF"/>
                </a:solidFill>
                <a:latin typeface="Calibri"/>
              </a:rPr>
              <a:t>Our idea</a:t>
            </a:r>
          </a:p>
        </p:txBody>
      </p:sp>
      <p:sp>
        <p:nvSpPr>
          <p:cNvPr id="14" name="TextBox 13"/>
          <p:cNvSpPr txBox="1"/>
          <p:nvPr/>
        </p:nvSpPr>
        <p:spPr>
          <a:xfrm>
            <a:off x="7155179" y="1938528"/>
            <a:ext cx="4251960" cy="1234440"/>
          </a:xfrm>
          <a:prstGeom prst="rect">
            <a:avLst/>
          </a:prstGeom>
          <a:noFill/>
        </p:spPr>
        <p:txBody>
          <a:bodyPr wrap="square" lIns="0" rIns="0" tIns="0" bIns="0" anchor="t">
            <a:spAutoFit/>
          </a:bodyPr>
          <a:lstStyle/>
          <a:p>
            <a:pPr algn="l"/>
            <a:r>
              <a:rPr sz="1500" b="0" i="0">
                <a:solidFill>
                  <a:srgbClr val="C9DBF5"/>
                </a:solidFill>
                <a:latin typeface="Calibri"/>
              </a:rPr>
              <a:t>Give the app a job description and some resumes. It gives every resume a score from 0 to 100 and sorts them from best to worst match. The recruiter starts with the top ones. A person still makes the final decision.</a:t>
            </a:r>
          </a:p>
        </p:txBody>
      </p:sp>
      <p:sp>
        <p:nvSpPr>
          <p:cNvPr id="15" name="TextBox 14"/>
          <p:cNvSpPr txBox="1"/>
          <p:nvPr/>
        </p:nvSpPr>
        <p:spPr>
          <a:xfrm>
            <a:off x="548640" y="3493008"/>
            <a:ext cx="10972800" cy="274320"/>
          </a:xfrm>
          <a:prstGeom prst="rect">
            <a:avLst/>
          </a:prstGeom>
          <a:noFill/>
        </p:spPr>
        <p:txBody>
          <a:bodyPr wrap="square" lIns="0" rIns="0" tIns="0" bIns="0" anchor="t">
            <a:spAutoFit/>
          </a:bodyPr>
          <a:lstStyle/>
          <a:p>
            <a:pPr algn="l"/>
            <a:r>
              <a:rPr sz="1200" b="1" i="0">
                <a:solidFill>
                  <a:srgbClr val="8FA3C2"/>
                </a:solidFill>
                <a:latin typeface="Calibri"/>
              </a:rPr>
              <a:t>THE DATA WE USED TO TEST IT  (real, public resume datasets from Kaggle)</a:t>
            </a:r>
          </a:p>
        </p:txBody>
      </p:sp>
      <p:sp>
        <p:nvSpPr>
          <p:cNvPr id="16" name="Rounded Rectangle 15"/>
          <p:cNvSpPr/>
          <p:nvPr/>
        </p:nvSpPr>
        <p:spPr>
          <a:xfrm>
            <a:off x="548640" y="3822191"/>
            <a:ext cx="5372100" cy="1600200"/>
          </a:xfrm>
          <a:prstGeom prst="roundRect">
            <a:avLst>
              <a:gd name="adj" fmla="val 8000"/>
            </a:avLst>
          </a:prstGeom>
          <a:solidFill>
            <a:srgbClr val="111F3A"/>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 y="3913632"/>
            <a:ext cx="2011680" cy="777240"/>
          </a:xfrm>
          <a:prstGeom prst="rect">
            <a:avLst/>
          </a:prstGeom>
          <a:noFill/>
        </p:spPr>
        <p:txBody>
          <a:bodyPr wrap="square" lIns="0" rIns="0" tIns="0" bIns="0" anchor="t">
            <a:spAutoFit/>
          </a:bodyPr>
          <a:lstStyle/>
          <a:p>
            <a:pPr algn="l"/>
            <a:r>
              <a:rPr sz="4600" b="1" i="0">
                <a:solidFill>
                  <a:srgbClr val="22D3EE"/>
                </a:solidFill>
                <a:latin typeface="Calibri"/>
              </a:rPr>
              <a:t>166</a:t>
            </a:r>
          </a:p>
        </p:txBody>
      </p:sp>
      <p:sp>
        <p:nvSpPr>
          <p:cNvPr id="18" name="TextBox 17"/>
          <p:cNvSpPr txBox="1"/>
          <p:nvPr/>
        </p:nvSpPr>
        <p:spPr>
          <a:xfrm>
            <a:off x="822959" y="4690872"/>
            <a:ext cx="2011680" cy="548640"/>
          </a:xfrm>
          <a:prstGeom prst="rect">
            <a:avLst/>
          </a:prstGeom>
          <a:noFill/>
        </p:spPr>
        <p:txBody>
          <a:bodyPr wrap="square" lIns="0" rIns="0" tIns="0" bIns="0" anchor="t">
            <a:spAutoFit/>
          </a:bodyPr>
          <a:lstStyle/>
          <a:p>
            <a:pPr algn="l"/>
            <a:r>
              <a:rPr sz="1300" b="0" i="0">
                <a:solidFill>
                  <a:srgbClr val="8FA3C2"/>
                </a:solidFill>
                <a:latin typeface="Calibri"/>
              </a:rPr>
              <a:t>different tech resumes</a:t>
            </a:r>
          </a:p>
        </p:txBody>
      </p:sp>
      <p:sp>
        <p:nvSpPr>
          <p:cNvPr id="19" name="TextBox 18"/>
          <p:cNvSpPr txBox="1"/>
          <p:nvPr/>
        </p:nvSpPr>
        <p:spPr>
          <a:xfrm>
            <a:off x="2880360" y="4005072"/>
            <a:ext cx="2834640" cy="320040"/>
          </a:xfrm>
          <a:prstGeom prst="rect">
            <a:avLst/>
          </a:prstGeom>
          <a:noFill/>
        </p:spPr>
        <p:txBody>
          <a:bodyPr wrap="square" lIns="0" rIns="0" tIns="0" bIns="0" anchor="t">
            <a:spAutoFit/>
          </a:bodyPr>
          <a:lstStyle/>
          <a:p>
            <a:pPr algn="l"/>
            <a:r>
              <a:rPr sz="1500" b="1" i="0">
                <a:solidFill>
                  <a:srgbClr val="FFFFFF"/>
                </a:solidFill>
                <a:latin typeface="Calibri"/>
              </a:rPr>
              <a:t>Tech jobs dataset  (our main one)</a:t>
            </a:r>
          </a:p>
        </p:txBody>
      </p:sp>
      <p:sp>
        <p:nvSpPr>
          <p:cNvPr id="20" name="TextBox 19"/>
          <p:cNvSpPr txBox="1"/>
          <p:nvPr/>
        </p:nvSpPr>
        <p:spPr>
          <a:xfrm>
            <a:off x="2880360" y="4370832"/>
            <a:ext cx="2834640" cy="1005840"/>
          </a:xfrm>
          <a:prstGeom prst="rect">
            <a:avLst/>
          </a:prstGeom>
          <a:noFill/>
        </p:spPr>
        <p:txBody>
          <a:bodyPr wrap="square" lIns="0" rIns="0" tIns="0" bIns="0" anchor="t">
            <a:spAutoFit/>
          </a:bodyPr>
          <a:lstStyle/>
          <a:p>
            <a:pPr algn="l"/>
            <a:r>
              <a:rPr sz="1200" b="0" i="0">
                <a:solidFill>
                  <a:srgbClr val="C9DBF5"/>
                </a:solidFill>
                <a:latin typeface="Calibri"/>
              </a:rPr>
              <a:t>The file has 962 rows, but 796 were exact copies, so 166 are unique. 25 job types: Java / Python / .NET Developer, Data Science, DevOps, Testing, Database ...</a:t>
            </a:r>
          </a:p>
        </p:txBody>
      </p:sp>
      <p:sp>
        <p:nvSpPr>
          <p:cNvPr id="21" name="Rounded Rectangle 20"/>
          <p:cNvSpPr/>
          <p:nvPr/>
        </p:nvSpPr>
        <p:spPr>
          <a:xfrm>
            <a:off x="6240779" y="3822191"/>
            <a:ext cx="5372100" cy="1600200"/>
          </a:xfrm>
          <a:prstGeom prst="roundRect">
            <a:avLst>
              <a:gd name="adj" fmla="val 8000"/>
            </a:avLst>
          </a:prstGeom>
          <a:solidFill>
            <a:srgbClr val="111F3A"/>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5099" y="3913632"/>
            <a:ext cx="2011680" cy="777240"/>
          </a:xfrm>
          <a:prstGeom prst="rect">
            <a:avLst/>
          </a:prstGeom>
          <a:noFill/>
        </p:spPr>
        <p:txBody>
          <a:bodyPr wrap="square" lIns="0" rIns="0" tIns="0" bIns="0" anchor="t">
            <a:spAutoFit/>
          </a:bodyPr>
          <a:lstStyle/>
          <a:p>
            <a:pPr algn="l"/>
            <a:r>
              <a:rPr sz="4600" b="1" i="0">
                <a:solidFill>
                  <a:srgbClr val="3B82F6"/>
                </a:solidFill>
                <a:latin typeface="Calibri"/>
              </a:rPr>
              <a:t>2,481</a:t>
            </a:r>
          </a:p>
        </p:txBody>
      </p:sp>
      <p:sp>
        <p:nvSpPr>
          <p:cNvPr id="23" name="TextBox 22"/>
          <p:cNvSpPr txBox="1"/>
          <p:nvPr/>
        </p:nvSpPr>
        <p:spPr>
          <a:xfrm>
            <a:off x="6515099" y="4690872"/>
            <a:ext cx="2011680" cy="548640"/>
          </a:xfrm>
          <a:prstGeom prst="rect">
            <a:avLst/>
          </a:prstGeom>
          <a:noFill/>
        </p:spPr>
        <p:txBody>
          <a:bodyPr wrap="square" lIns="0" rIns="0" tIns="0" bIns="0" anchor="t">
            <a:spAutoFit/>
          </a:bodyPr>
          <a:lstStyle/>
          <a:p>
            <a:pPr algn="l"/>
            <a:r>
              <a:rPr sz="1300" b="0" i="0">
                <a:solidFill>
                  <a:srgbClr val="8FA3C2"/>
                </a:solidFill>
                <a:latin typeface="Calibri"/>
              </a:rPr>
              <a:t>resumes, all industries</a:t>
            </a:r>
          </a:p>
        </p:txBody>
      </p:sp>
      <p:sp>
        <p:nvSpPr>
          <p:cNvPr id="24" name="TextBox 23"/>
          <p:cNvSpPr txBox="1"/>
          <p:nvPr/>
        </p:nvSpPr>
        <p:spPr>
          <a:xfrm>
            <a:off x="8572500" y="4005072"/>
            <a:ext cx="2834640" cy="320040"/>
          </a:xfrm>
          <a:prstGeom prst="rect">
            <a:avLst/>
          </a:prstGeom>
          <a:noFill/>
        </p:spPr>
        <p:txBody>
          <a:bodyPr wrap="square" lIns="0" rIns="0" tIns="0" bIns="0" anchor="t">
            <a:spAutoFit/>
          </a:bodyPr>
          <a:lstStyle/>
          <a:p>
            <a:pPr algn="l"/>
            <a:r>
              <a:rPr sz="1500" b="1" i="0">
                <a:solidFill>
                  <a:srgbClr val="FFFFFF"/>
                </a:solidFill>
                <a:latin typeface="Calibri"/>
              </a:rPr>
              <a:t>All-industries dataset  (extra check)</a:t>
            </a:r>
          </a:p>
        </p:txBody>
      </p:sp>
      <p:sp>
        <p:nvSpPr>
          <p:cNvPr id="25" name="TextBox 24"/>
          <p:cNvSpPr txBox="1"/>
          <p:nvPr/>
        </p:nvSpPr>
        <p:spPr>
          <a:xfrm>
            <a:off x="8572500" y="4370832"/>
            <a:ext cx="2834640" cy="1005840"/>
          </a:xfrm>
          <a:prstGeom prst="rect">
            <a:avLst/>
          </a:prstGeom>
          <a:noFill/>
        </p:spPr>
        <p:txBody>
          <a:bodyPr wrap="square" lIns="0" rIns="0" tIns="0" bIns="0" anchor="t">
            <a:spAutoFit/>
          </a:bodyPr>
          <a:lstStyle/>
          <a:p>
            <a:pPr algn="l"/>
            <a:r>
              <a:rPr sz="1200" b="0" i="0">
                <a:solidFill>
                  <a:srgbClr val="C9DBF5"/>
                </a:solidFill>
                <a:latin typeface="Calibri"/>
              </a:rPr>
              <a:t>2,484 rows; we removed 1 empty and 2 copies. 24 broad areas such as IT, Engineering, HR, Finance. Very few of them are software resumes.</a:t>
            </a:r>
          </a:p>
        </p:txBody>
      </p:sp>
      <p:sp>
        <p:nvSpPr>
          <p:cNvPr id="26" name="TextBox 25"/>
          <p:cNvSpPr txBox="1"/>
          <p:nvPr/>
        </p:nvSpPr>
        <p:spPr>
          <a:xfrm>
            <a:off x="548640" y="5623560"/>
            <a:ext cx="11064240" cy="548640"/>
          </a:xfrm>
          <a:prstGeom prst="rect">
            <a:avLst/>
          </a:prstGeom>
          <a:noFill/>
        </p:spPr>
        <p:txBody>
          <a:bodyPr wrap="square" lIns="0" rIns="0" tIns="0" bIns="0" anchor="t">
            <a:spAutoFit/>
          </a:bodyPr>
          <a:lstStyle/>
          <a:p>
            <a:pPr algn="l"/>
            <a:r>
              <a:rPr sz="1300" b="1" i="0">
                <a:solidFill>
                  <a:srgbClr val="22D3EE"/>
                </a:solidFill>
                <a:latin typeface="Calibri"/>
              </a:rPr>
              <a:t>Why two datasets? </a:t>
            </a:r>
            <a:r>
              <a:rPr sz="1300" b="0" i="0">
                <a:solidFill>
                  <a:srgbClr val="C9DBF5"/>
                </a:solidFill>
                <a:latin typeface="Calibri"/>
              </a:rPr>
              <a:t>Our project is about tech jobs (software, data, AI, testing), so the tech dataset is the main one. The bigger mixed dataset shows how the methods behave when most resumes are not from tech.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Eyebrow"/>
          <p:cNvSpPr txBox="1"/>
          <p:nvPr/>
        </p:nvSpPr>
        <p:spPr>
          <a:xfrm>
            <a:off x="548640" y="347472"/>
            <a:ext cx="8229600" cy="274320"/>
          </a:xfrm>
          <a:prstGeom prst="rect">
            <a:avLst/>
          </a:prstGeom>
          <a:noFill/>
        </p:spPr>
        <p:txBody>
          <a:bodyPr wrap="square" lIns="0" rIns="0" tIns="0" bIns="0" anchor="t">
            <a:spAutoFit/>
          </a:bodyPr>
          <a:lstStyle/>
          <a:p>
            <a:pPr algn="l"/>
            <a:r>
              <a:rPr sz="1300" b="1" i="0">
                <a:solidFill>
                  <a:srgbClr val="22D3EE"/>
                </a:solidFill>
                <a:latin typeface="Calibri"/>
              </a:rPr>
              <a:t>HOW IT WORKS</a:t>
            </a:r>
          </a:p>
        </p:txBody>
      </p:sp>
      <p:sp>
        <p:nvSpPr>
          <p:cNvPr id="4" name="Title"/>
          <p:cNvSpPr txBox="1"/>
          <p:nvPr/>
        </p:nvSpPr>
        <p:spPr>
          <a:xfrm>
            <a:off x="548640" y="603504"/>
            <a:ext cx="11064240" cy="640080"/>
          </a:xfrm>
          <a:prstGeom prst="rect">
            <a:avLst/>
          </a:prstGeom>
          <a:noFill/>
        </p:spPr>
        <p:txBody>
          <a:bodyPr wrap="square" lIns="0" rIns="0" tIns="0" bIns="0" anchor="t">
            <a:spAutoFit/>
          </a:bodyPr>
          <a:lstStyle/>
          <a:p>
            <a:pPr algn="l"/>
            <a:r>
              <a:rPr sz="3400" b="1" i="0">
                <a:solidFill>
                  <a:srgbClr val="FFFFFF"/>
                </a:solidFill>
                <a:latin typeface="Calibri"/>
              </a:rPr>
              <a:t>From a job description to a ranked list, in 5 steps</a:t>
            </a:r>
          </a:p>
        </p:txBody>
      </p:sp>
      <p:sp>
        <p:nvSpPr>
          <p:cNvPr id="5" name="Footer"/>
          <p:cNvSpPr txBox="1"/>
          <p:nvPr/>
        </p:nvSpPr>
        <p:spPr>
          <a:xfrm>
            <a:off x="548640" y="6400800"/>
            <a:ext cx="6400800" cy="274320"/>
          </a:xfrm>
          <a:prstGeom prst="rect">
            <a:avLst/>
          </a:prstGeom>
          <a:noFill/>
        </p:spPr>
        <p:txBody>
          <a:bodyPr wrap="square" lIns="0" rIns="0" tIns="0" bIns="0" anchor="t">
            <a:spAutoFit/>
          </a:bodyPr>
          <a:lstStyle/>
          <a:p>
            <a:pPr algn="l"/>
            <a:r>
              <a:rPr sz="1100" b="0" i="0">
                <a:solidFill>
                  <a:srgbClr val="8FA3C2"/>
                </a:solidFill>
                <a:latin typeface="Calibri"/>
              </a:rPr>
              <a:t>Resume Matcher  ·  Milestone 3  ·  Batch 3</a:t>
            </a:r>
          </a:p>
        </p:txBody>
      </p:sp>
      <p:sp>
        <p:nvSpPr>
          <p:cNvPr id="6" name="Slide number"/>
          <p:cNvSpPr txBox="1"/>
          <p:nvPr/>
        </p:nvSpPr>
        <p:spPr>
          <a:xfrm>
            <a:off x="10698480" y="6400800"/>
            <a:ext cx="914400" cy="274320"/>
          </a:xfrm>
          <a:prstGeom prst="rect">
            <a:avLst/>
          </a:prstGeom>
          <a:noFill/>
        </p:spPr>
        <p:txBody>
          <a:bodyPr wrap="square" lIns="0" rIns="0" tIns="0" bIns="0" anchor="t">
            <a:spAutoFit/>
          </a:bodyPr>
          <a:lstStyle/>
          <a:p>
            <a:pPr algn="r"/>
            <a:r>
              <a:rPr sz="1100" b="0" i="0">
                <a:solidFill>
                  <a:srgbClr val="8FA3C2"/>
                </a:solidFill>
                <a:latin typeface="Calibri"/>
              </a:rPr>
              <a:t>3 / 7</a:t>
            </a:r>
          </a:p>
        </p:txBody>
      </p:sp>
      <p:sp>
        <p:nvSpPr>
          <p:cNvPr id="7" name="Rounded Rectangle 6"/>
          <p:cNvSpPr/>
          <p:nvPr/>
        </p:nvSpPr>
        <p:spPr>
          <a:xfrm>
            <a:off x="548640" y="1417320"/>
            <a:ext cx="2011680" cy="3063240"/>
          </a:xfrm>
          <a:prstGeom prst="roundRect">
            <a:avLst>
              <a:gd name="adj" fmla="val 8000"/>
            </a:avLst>
          </a:prstGeom>
          <a:solidFill>
            <a:srgbClr val="111F3A"/>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1600200"/>
            <a:ext cx="502920" cy="50292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0A1226"/>
                </a:solidFill>
                <a:latin typeface="Calibri"/>
              </a:rPr>
              <a:t>1</a:t>
            </a:r>
          </a:p>
        </p:txBody>
      </p:sp>
      <p:sp>
        <p:nvSpPr>
          <p:cNvPr id="9" name="TextBox 8"/>
          <p:cNvSpPr txBox="1"/>
          <p:nvPr/>
        </p:nvSpPr>
        <p:spPr>
          <a:xfrm>
            <a:off x="731520" y="2240280"/>
            <a:ext cx="1645920" cy="365760"/>
          </a:xfrm>
          <a:prstGeom prst="rect">
            <a:avLst/>
          </a:prstGeom>
          <a:noFill/>
        </p:spPr>
        <p:txBody>
          <a:bodyPr wrap="square" lIns="0" rIns="0" tIns="0" bIns="0" anchor="t">
            <a:spAutoFit/>
          </a:bodyPr>
          <a:lstStyle/>
          <a:p>
            <a:pPr algn="l"/>
            <a:r>
              <a:rPr sz="1700" b="1" i="0">
                <a:solidFill>
                  <a:srgbClr val="FFFFFF"/>
                </a:solidFill>
                <a:latin typeface="Calibri"/>
              </a:rPr>
              <a:t>Read</a:t>
            </a:r>
          </a:p>
        </p:txBody>
      </p:sp>
      <p:sp>
        <p:nvSpPr>
          <p:cNvPr id="10" name="TextBox 9"/>
          <p:cNvSpPr txBox="1"/>
          <p:nvPr/>
        </p:nvSpPr>
        <p:spPr>
          <a:xfrm>
            <a:off x="731520" y="2651760"/>
            <a:ext cx="1691640" cy="1737360"/>
          </a:xfrm>
          <a:prstGeom prst="rect">
            <a:avLst/>
          </a:prstGeom>
          <a:noFill/>
        </p:spPr>
        <p:txBody>
          <a:bodyPr wrap="square" lIns="0" rIns="0" tIns="0" bIns="0" anchor="t">
            <a:spAutoFit/>
          </a:bodyPr>
          <a:lstStyle/>
          <a:p>
            <a:pPr algn="l"/>
            <a:r>
              <a:rPr sz="1300" b="0" i="0">
                <a:solidFill>
                  <a:srgbClr val="C9DBF5"/>
                </a:solidFill>
                <a:latin typeface="Calibri"/>
              </a:rPr>
              <a:t>Take the text out of each resume file (PDF, TXT or MD). The job description is typed or pasted.</a:t>
            </a:r>
          </a:p>
        </p:txBody>
      </p:sp>
      <p:sp>
        <p:nvSpPr>
          <p:cNvPr id="11" name="Right Arrow 10"/>
          <p:cNvSpPr/>
          <p:nvPr/>
        </p:nvSpPr>
        <p:spPr>
          <a:xfrm>
            <a:off x="2606040" y="2816352"/>
            <a:ext cx="182880" cy="256032"/>
          </a:xfrm>
          <a:prstGeom prst="rightArrow">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834640" y="1417320"/>
            <a:ext cx="2011680" cy="3063240"/>
          </a:xfrm>
          <a:prstGeom prst="roundRect">
            <a:avLst>
              <a:gd name="adj" fmla="val 8000"/>
            </a:avLst>
          </a:prstGeom>
          <a:solidFill>
            <a:srgbClr val="111F3A"/>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017520" y="1600200"/>
            <a:ext cx="502920" cy="50292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0A1226"/>
                </a:solidFill>
                <a:latin typeface="Calibri"/>
              </a:rPr>
              <a:t>2</a:t>
            </a:r>
          </a:p>
        </p:txBody>
      </p:sp>
      <p:sp>
        <p:nvSpPr>
          <p:cNvPr id="14" name="TextBox 13"/>
          <p:cNvSpPr txBox="1"/>
          <p:nvPr/>
        </p:nvSpPr>
        <p:spPr>
          <a:xfrm>
            <a:off x="3017520" y="2240280"/>
            <a:ext cx="1645920" cy="365760"/>
          </a:xfrm>
          <a:prstGeom prst="rect">
            <a:avLst/>
          </a:prstGeom>
          <a:noFill/>
        </p:spPr>
        <p:txBody>
          <a:bodyPr wrap="square" lIns="0" rIns="0" tIns="0" bIns="0" anchor="t">
            <a:spAutoFit/>
          </a:bodyPr>
          <a:lstStyle/>
          <a:p>
            <a:pPr algn="l"/>
            <a:r>
              <a:rPr sz="1700" b="1" i="0">
                <a:solidFill>
                  <a:srgbClr val="FFFFFF"/>
                </a:solidFill>
                <a:latin typeface="Calibri"/>
              </a:rPr>
              <a:t>Clean</a:t>
            </a:r>
          </a:p>
        </p:txBody>
      </p:sp>
      <p:sp>
        <p:nvSpPr>
          <p:cNvPr id="15" name="TextBox 14"/>
          <p:cNvSpPr txBox="1"/>
          <p:nvPr/>
        </p:nvSpPr>
        <p:spPr>
          <a:xfrm>
            <a:off x="3017520" y="2651760"/>
            <a:ext cx="1691640" cy="1737360"/>
          </a:xfrm>
          <a:prstGeom prst="rect">
            <a:avLst/>
          </a:prstGeom>
          <a:noFill/>
        </p:spPr>
        <p:txBody>
          <a:bodyPr wrap="square" lIns="0" rIns="0" tIns="0" bIns="0" anchor="t">
            <a:spAutoFit/>
          </a:bodyPr>
          <a:lstStyle/>
          <a:p>
            <a:pPr algn="l"/>
            <a:r>
              <a:rPr sz="1300" b="0" i="0">
                <a:solidFill>
                  <a:srgbClr val="C9DBF5"/>
                </a:solidFill>
                <a:latin typeface="Calibri"/>
              </a:rPr>
              <a:t>Make all letters small, remove links, e-mails and extra symbols, fix broken characters. Keep special skill names like C++, C# and .NET.</a:t>
            </a:r>
          </a:p>
        </p:txBody>
      </p:sp>
      <p:sp>
        <p:nvSpPr>
          <p:cNvPr id="16" name="Right Arrow 15"/>
          <p:cNvSpPr/>
          <p:nvPr/>
        </p:nvSpPr>
        <p:spPr>
          <a:xfrm>
            <a:off x="4892040" y="2816352"/>
            <a:ext cx="182880" cy="256032"/>
          </a:xfrm>
          <a:prstGeom prst="rightArrow">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120640" y="1417320"/>
            <a:ext cx="2011680" cy="3063240"/>
          </a:xfrm>
          <a:prstGeom prst="roundRect">
            <a:avLst>
              <a:gd name="adj" fmla="val 8000"/>
            </a:avLst>
          </a:prstGeom>
          <a:solidFill>
            <a:srgbClr val="111F3A"/>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303520" y="1600200"/>
            <a:ext cx="502920" cy="50292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0A1226"/>
                </a:solidFill>
                <a:latin typeface="Calibri"/>
              </a:rPr>
              <a:t>3</a:t>
            </a:r>
          </a:p>
        </p:txBody>
      </p:sp>
      <p:sp>
        <p:nvSpPr>
          <p:cNvPr id="19" name="TextBox 18"/>
          <p:cNvSpPr txBox="1"/>
          <p:nvPr/>
        </p:nvSpPr>
        <p:spPr>
          <a:xfrm>
            <a:off x="5303520" y="2240280"/>
            <a:ext cx="1645920" cy="365760"/>
          </a:xfrm>
          <a:prstGeom prst="rect">
            <a:avLst/>
          </a:prstGeom>
          <a:noFill/>
        </p:spPr>
        <p:txBody>
          <a:bodyPr wrap="square" lIns="0" rIns="0" tIns="0" bIns="0" anchor="t">
            <a:spAutoFit/>
          </a:bodyPr>
          <a:lstStyle/>
          <a:p>
            <a:pPr algn="l"/>
            <a:r>
              <a:rPr sz="1700" b="1" i="0">
                <a:solidFill>
                  <a:srgbClr val="FFFFFF"/>
                </a:solidFill>
                <a:latin typeface="Calibri"/>
              </a:rPr>
              <a:t>Convert</a:t>
            </a:r>
          </a:p>
        </p:txBody>
      </p:sp>
      <p:sp>
        <p:nvSpPr>
          <p:cNvPr id="20" name="TextBox 19"/>
          <p:cNvSpPr txBox="1"/>
          <p:nvPr/>
        </p:nvSpPr>
        <p:spPr>
          <a:xfrm>
            <a:off x="5303520" y="2651760"/>
            <a:ext cx="1691640" cy="1737360"/>
          </a:xfrm>
          <a:prstGeom prst="rect">
            <a:avLst/>
          </a:prstGeom>
          <a:noFill/>
        </p:spPr>
        <p:txBody>
          <a:bodyPr wrap="square" lIns="0" rIns="0" tIns="0" bIns="0" anchor="t">
            <a:spAutoFit/>
          </a:bodyPr>
          <a:lstStyle/>
          <a:p>
            <a:pPr algn="l"/>
            <a:r>
              <a:rPr sz="1300" b="0" i="0">
                <a:solidFill>
                  <a:srgbClr val="C9DBF5"/>
                </a:solidFill>
                <a:latin typeface="Calibri"/>
              </a:rPr>
              <a:t>A computer cannot compare words directly, so each resume and the job are turned into a list of numbers, called a vector.</a:t>
            </a:r>
          </a:p>
        </p:txBody>
      </p:sp>
      <p:sp>
        <p:nvSpPr>
          <p:cNvPr id="21" name="Right Arrow 20"/>
          <p:cNvSpPr/>
          <p:nvPr/>
        </p:nvSpPr>
        <p:spPr>
          <a:xfrm>
            <a:off x="7178040" y="2816352"/>
            <a:ext cx="182880" cy="256032"/>
          </a:xfrm>
          <a:prstGeom prst="rightArrow">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06640" y="1417320"/>
            <a:ext cx="2011680" cy="3063240"/>
          </a:xfrm>
          <a:prstGeom prst="roundRect">
            <a:avLst>
              <a:gd name="adj" fmla="val 8000"/>
            </a:avLst>
          </a:prstGeom>
          <a:solidFill>
            <a:srgbClr val="111F3A"/>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589519" y="1600200"/>
            <a:ext cx="502920" cy="50292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0A1226"/>
                </a:solidFill>
                <a:latin typeface="Calibri"/>
              </a:rPr>
              <a:t>4</a:t>
            </a:r>
          </a:p>
        </p:txBody>
      </p:sp>
      <p:sp>
        <p:nvSpPr>
          <p:cNvPr id="24" name="TextBox 23"/>
          <p:cNvSpPr txBox="1"/>
          <p:nvPr/>
        </p:nvSpPr>
        <p:spPr>
          <a:xfrm>
            <a:off x="7589519" y="2240280"/>
            <a:ext cx="1645920" cy="365760"/>
          </a:xfrm>
          <a:prstGeom prst="rect">
            <a:avLst/>
          </a:prstGeom>
          <a:noFill/>
        </p:spPr>
        <p:txBody>
          <a:bodyPr wrap="square" lIns="0" rIns="0" tIns="0" bIns="0" anchor="t">
            <a:spAutoFit/>
          </a:bodyPr>
          <a:lstStyle/>
          <a:p>
            <a:pPr algn="l"/>
            <a:r>
              <a:rPr sz="1700" b="1" i="0">
                <a:solidFill>
                  <a:srgbClr val="FFFFFF"/>
                </a:solidFill>
                <a:latin typeface="Calibri"/>
              </a:rPr>
              <a:t>Compare</a:t>
            </a:r>
          </a:p>
        </p:txBody>
      </p:sp>
      <p:sp>
        <p:nvSpPr>
          <p:cNvPr id="25" name="TextBox 24"/>
          <p:cNvSpPr txBox="1"/>
          <p:nvPr/>
        </p:nvSpPr>
        <p:spPr>
          <a:xfrm>
            <a:off x="7589519" y="2651760"/>
            <a:ext cx="1691640" cy="1737360"/>
          </a:xfrm>
          <a:prstGeom prst="rect">
            <a:avLst/>
          </a:prstGeom>
          <a:noFill/>
        </p:spPr>
        <p:txBody>
          <a:bodyPr wrap="square" lIns="0" rIns="0" tIns="0" bIns="0" anchor="t">
            <a:spAutoFit/>
          </a:bodyPr>
          <a:lstStyle/>
          <a:p>
            <a:pPr algn="l"/>
            <a:r>
              <a:rPr sz="1300" b="0" i="0">
                <a:solidFill>
                  <a:srgbClr val="C9DBF5"/>
                </a:solidFill>
                <a:latin typeface="Calibri"/>
              </a:rPr>
              <a:t>Cosine similarity checks how close two vectors point. Same direction = very similar = high score.</a:t>
            </a:r>
          </a:p>
        </p:txBody>
      </p:sp>
      <p:sp>
        <p:nvSpPr>
          <p:cNvPr id="26" name="Right Arrow 25"/>
          <p:cNvSpPr/>
          <p:nvPr/>
        </p:nvSpPr>
        <p:spPr>
          <a:xfrm>
            <a:off x="9464040" y="2816352"/>
            <a:ext cx="182880" cy="256032"/>
          </a:xfrm>
          <a:prstGeom prst="rightArrow">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692640" y="1417320"/>
            <a:ext cx="2011680" cy="3063240"/>
          </a:xfrm>
          <a:prstGeom prst="roundRect">
            <a:avLst>
              <a:gd name="adj" fmla="val 8000"/>
            </a:avLst>
          </a:prstGeom>
          <a:solidFill>
            <a:srgbClr val="111F3A"/>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875519" y="1600200"/>
            <a:ext cx="502920" cy="50292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0A1226"/>
                </a:solidFill>
                <a:latin typeface="Calibri"/>
              </a:rPr>
              <a:t>5</a:t>
            </a:r>
          </a:p>
        </p:txBody>
      </p:sp>
      <p:sp>
        <p:nvSpPr>
          <p:cNvPr id="29" name="TextBox 28"/>
          <p:cNvSpPr txBox="1"/>
          <p:nvPr/>
        </p:nvSpPr>
        <p:spPr>
          <a:xfrm>
            <a:off x="9875519" y="2240280"/>
            <a:ext cx="1645920" cy="365760"/>
          </a:xfrm>
          <a:prstGeom prst="rect">
            <a:avLst/>
          </a:prstGeom>
          <a:noFill/>
        </p:spPr>
        <p:txBody>
          <a:bodyPr wrap="square" lIns="0" rIns="0" tIns="0" bIns="0" anchor="t">
            <a:spAutoFit/>
          </a:bodyPr>
          <a:lstStyle/>
          <a:p>
            <a:pPr algn="l"/>
            <a:r>
              <a:rPr sz="1700" b="1" i="0">
                <a:solidFill>
                  <a:srgbClr val="FFFFFF"/>
                </a:solidFill>
                <a:latin typeface="Calibri"/>
              </a:rPr>
              <a:t>Rank</a:t>
            </a:r>
          </a:p>
        </p:txBody>
      </p:sp>
      <p:sp>
        <p:nvSpPr>
          <p:cNvPr id="30" name="TextBox 29"/>
          <p:cNvSpPr txBox="1"/>
          <p:nvPr/>
        </p:nvSpPr>
        <p:spPr>
          <a:xfrm>
            <a:off x="9875519" y="2651760"/>
            <a:ext cx="1691640" cy="1737360"/>
          </a:xfrm>
          <a:prstGeom prst="rect">
            <a:avLst/>
          </a:prstGeom>
          <a:noFill/>
        </p:spPr>
        <p:txBody>
          <a:bodyPr wrap="square" lIns="0" rIns="0" tIns="0" bIns="0" anchor="t">
            <a:spAutoFit/>
          </a:bodyPr>
          <a:lstStyle/>
          <a:p>
            <a:pPr algn="l"/>
            <a:r>
              <a:rPr sz="1300" b="0" i="0">
                <a:solidFill>
                  <a:srgbClr val="C9DBF5"/>
                </a:solidFill>
                <a:latin typeface="Calibri"/>
              </a:rPr>
              <a:t>Sort the resumes from highest to lowest score. Show the top ones and let the user download the list as a CSV file.</a:t>
            </a:r>
          </a:p>
        </p:txBody>
      </p:sp>
      <p:sp>
        <p:nvSpPr>
          <p:cNvPr id="31" name="Rounded Rectangle 30"/>
          <p:cNvSpPr/>
          <p:nvPr/>
        </p:nvSpPr>
        <p:spPr>
          <a:xfrm>
            <a:off x="548640" y="4709160"/>
            <a:ext cx="11064240" cy="868680"/>
          </a:xfrm>
          <a:prstGeom prst="roundRect">
            <a:avLst>
              <a:gd name="adj" fmla="val 8000"/>
            </a:avLst>
          </a:prstGeom>
          <a:solidFill>
            <a:srgbClr val="16294B"/>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4818888"/>
            <a:ext cx="10607040" cy="685800"/>
          </a:xfrm>
          <a:prstGeom prst="rect">
            <a:avLst/>
          </a:prstGeom>
          <a:noFill/>
        </p:spPr>
        <p:txBody>
          <a:bodyPr wrap="square" lIns="0" rIns="0" tIns="0" bIns="0" anchor="t">
            <a:spAutoFit/>
          </a:bodyPr>
          <a:lstStyle/>
          <a:p>
            <a:pPr algn="l"/>
            <a:r>
              <a:rPr sz="1400" b="1" i="0">
                <a:solidFill>
                  <a:srgbClr val="22D3EE"/>
                </a:solidFill>
                <a:latin typeface="Calibri"/>
              </a:rPr>
              <a:t>What does the score mean?  </a:t>
            </a:r>
            <a:r>
              <a:rPr sz="1400" b="0" i="0">
                <a:solidFill>
                  <a:srgbClr val="C9DBF5"/>
                </a:solidFill>
                <a:latin typeface="Calibri"/>
              </a:rPr>
              <a:t>100 means the resume and the job point in exactly the same direction (very similar text). 0 means they have nothing in common. It only measures how alike the texts are. It is not the chance of getting hired.</a:t>
            </a:r>
          </a:p>
        </p:txBody>
      </p:sp>
      <p:sp>
        <p:nvSpPr>
          <p:cNvPr id="33" name="Rounded Rectangle 32"/>
          <p:cNvSpPr/>
          <p:nvPr/>
        </p:nvSpPr>
        <p:spPr>
          <a:xfrm>
            <a:off x="1920240" y="5760720"/>
            <a:ext cx="8348472" cy="457200"/>
          </a:xfrm>
          <a:prstGeom prst="roundRect">
            <a:avLst>
              <a:gd name="adj" fmla="val 50000"/>
            </a:avLst>
          </a:prstGeom>
          <a:solidFill>
            <a:srgbClr val="0A1226"/>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300" b="1">
                <a:solidFill>
                  <a:srgbClr val="22D3EE"/>
                </a:solidFill>
                <a:latin typeface="Calibri"/>
              </a:rPr>
              <a:t>No chatbot or LLM writes anything here. The app only measures similarity and sorts.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Eyebrow"/>
          <p:cNvSpPr txBox="1"/>
          <p:nvPr/>
        </p:nvSpPr>
        <p:spPr>
          <a:xfrm>
            <a:off x="548640" y="347472"/>
            <a:ext cx="8229600" cy="274320"/>
          </a:xfrm>
          <a:prstGeom prst="rect">
            <a:avLst/>
          </a:prstGeom>
          <a:noFill/>
        </p:spPr>
        <p:txBody>
          <a:bodyPr wrap="square" lIns="0" rIns="0" tIns="0" bIns="0" anchor="t">
            <a:spAutoFit/>
          </a:bodyPr>
          <a:lstStyle/>
          <a:p>
            <a:pPr algn="l"/>
            <a:r>
              <a:rPr sz="1300" b="1" i="0">
                <a:solidFill>
                  <a:srgbClr val="22D3EE"/>
                </a:solidFill>
                <a:latin typeface="Calibri"/>
              </a:rPr>
              <a:t>METHODOLOGY · THE 4 MATCHING METHODS</a:t>
            </a:r>
          </a:p>
        </p:txBody>
      </p:sp>
      <p:sp>
        <p:nvSpPr>
          <p:cNvPr id="4" name="Title"/>
          <p:cNvSpPr txBox="1"/>
          <p:nvPr/>
        </p:nvSpPr>
        <p:spPr>
          <a:xfrm>
            <a:off x="548640" y="603504"/>
            <a:ext cx="11064240" cy="640080"/>
          </a:xfrm>
          <a:prstGeom prst="rect">
            <a:avLst/>
          </a:prstGeom>
          <a:noFill/>
        </p:spPr>
        <p:txBody>
          <a:bodyPr wrap="square" lIns="0" rIns="0" tIns="0" bIns="0" anchor="t">
            <a:spAutoFit/>
          </a:bodyPr>
          <a:lstStyle/>
          <a:p>
            <a:pPr algn="l"/>
            <a:r>
              <a:rPr sz="3400" b="1" i="0">
                <a:solidFill>
                  <a:srgbClr val="FFFFFF"/>
                </a:solidFill>
                <a:latin typeface="Calibri"/>
              </a:rPr>
              <a:t>Four ways to compare a resume with a job</a:t>
            </a:r>
          </a:p>
        </p:txBody>
      </p:sp>
      <p:sp>
        <p:nvSpPr>
          <p:cNvPr id="5" name="Footer"/>
          <p:cNvSpPr txBox="1"/>
          <p:nvPr/>
        </p:nvSpPr>
        <p:spPr>
          <a:xfrm>
            <a:off x="548640" y="6400800"/>
            <a:ext cx="6400800" cy="274320"/>
          </a:xfrm>
          <a:prstGeom prst="rect">
            <a:avLst/>
          </a:prstGeom>
          <a:noFill/>
        </p:spPr>
        <p:txBody>
          <a:bodyPr wrap="square" lIns="0" rIns="0" tIns="0" bIns="0" anchor="t">
            <a:spAutoFit/>
          </a:bodyPr>
          <a:lstStyle/>
          <a:p>
            <a:pPr algn="l"/>
            <a:r>
              <a:rPr sz="1100" b="0" i="0">
                <a:solidFill>
                  <a:srgbClr val="8FA3C2"/>
                </a:solidFill>
                <a:latin typeface="Calibri"/>
              </a:rPr>
              <a:t>Resume Matcher  ·  Milestone 3  ·  Batch 3</a:t>
            </a:r>
          </a:p>
        </p:txBody>
      </p:sp>
      <p:sp>
        <p:nvSpPr>
          <p:cNvPr id="6" name="Slide number"/>
          <p:cNvSpPr txBox="1"/>
          <p:nvPr/>
        </p:nvSpPr>
        <p:spPr>
          <a:xfrm>
            <a:off x="10698480" y="6400800"/>
            <a:ext cx="914400" cy="274320"/>
          </a:xfrm>
          <a:prstGeom prst="rect">
            <a:avLst/>
          </a:prstGeom>
          <a:noFill/>
        </p:spPr>
        <p:txBody>
          <a:bodyPr wrap="square" lIns="0" rIns="0" tIns="0" bIns="0" anchor="t">
            <a:spAutoFit/>
          </a:bodyPr>
          <a:lstStyle/>
          <a:p>
            <a:pPr algn="r"/>
            <a:r>
              <a:rPr sz="1100" b="0" i="0">
                <a:solidFill>
                  <a:srgbClr val="8FA3C2"/>
                </a:solidFill>
                <a:latin typeface="Calibri"/>
              </a:rPr>
              <a:t>4 / 7</a:t>
            </a:r>
          </a:p>
        </p:txBody>
      </p:sp>
      <p:sp>
        <p:nvSpPr>
          <p:cNvPr id="7" name="Rounded Rectangle 6"/>
          <p:cNvSpPr/>
          <p:nvPr/>
        </p:nvSpPr>
        <p:spPr>
          <a:xfrm>
            <a:off x="548640" y="1371600"/>
            <a:ext cx="2651760" cy="4800600"/>
          </a:xfrm>
          <a:prstGeom prst="roundRect">
            <a:avLst>
              <a:gd name="adj" fmla="val 8000"/>
            </a:avLst>
          </a:prstGeom>
          <a:solidFill>
            <a:srgbClr val="111F3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1536192"/>
            <a:ext cx="457200" cy="4572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A1226"/>
                </a:solidFill>
                <a:latin typeface="Calibri"/>
              </a:rPr>
              <a:t>1</a:t>
            </a:r>
          </a:p>
        </p:txBody>
      </p:sp>
      <p:sp>
        <p:nvSpPr>
          <p:cNvPr id="9" name="TextBox 8"/>
          <p:cNvSpPr txBox="1"/>
          <p:nvPr/>
        </p:nvSpPr>
        <p:spPr>
          <a:xfrm>
            <a:off x="1298448" y="1517904"/>
            <a:ext cx="1783080" cy="320040"/>
          </a:xfrm>
          <a:prstGeom prst="rect">
            <a:avLst/>
          </a:prstGeom>
          <a:noFill/>
        </p:spPr>
        <p:txBody>
          <a:bodyPr wrap="square" lIns="0" rIns="0" tIns="0" bIns="0" anchor="t">
            <a:spAutoFit/>
          </a:bodyPr>
          <a:lstStyle/>
          <a:p>
            <a:pPr algn="l"/>
            <a:r>
              <a:rPr sz="1700" b="1" i="0">
                <a:solidFill>
                  <a:srgbClr val="FFFFFF"/>
                </a:solidFill>
                <a:latin typeface="Calibri"/>
              </a:rPr>
              <a:t>TF-IDF</a:t>
            </a:r>
          </a:p>
        </p:txBody>
      </p:sp>
      <p:sp>
        <p:nvSpPr>
          <p:cNvPr id="10" name="TextBox 9"/>
          <p:cNvSpPr txBox="1"/>
          <p:nvPr/>
        </p:nvSpPr>
        <p:spPr>
          <a:xfrm>
            <a:off x="1298448" y="1810512"/>
            <a:ext cx="1783080" cy="274320"/>
          </a:xfrm>
          <a:prstGeom prst="rect">
            <a:avLst/>
          </a:prstGeom>
          <a:noFill/>
        </p:spPr>
        <p:txBody>
          <a:bodyPr wrap="square" lIns="0" rIns="0" tIns="0" bIns="0" anchor="t">
            <a:spAutoFit/>
          </a:bodyPr>
          <a:lstStyle/>
          <a:p>
            <a:pPr algn="l"/>
            <a:r>
              <a:rPr sz="1200" b="1" i="0">
                <a:solidFill>
                  <a:srgbClr val="22D3EE"/>
                </a:solidFill>
                <a:latin typeface="Calibri"/>
              </a:rPr>
              <a:t>Matches the same words</a:t>
            </a:r>
          </a:p>
        </p:txBody>
      </p:sp>
      <p:sp>
        <p:nvSpPr>
          <p:cNvPr id="11" name="TextBox 10"/>
          <p:cNvSpPr txBox="1"/>
          <p:nvPr/>
        </p:nvSpPr>
        <p:spPr>
          <a:xfrm>
            <a:off x="731520" y="2286000"/>
            <a:ext cx="2286000" cy="228600"/>
          </a:xfrm>
          <a:prstGeom prst="rect">
            <a:avLst/>
          </a:prstGeom>
          <a:noFill/>
        </p:spPr>
        <p:txBody>
          <a:bodyPr wrap="square" lIns="0" rIns="0" tIns="0" bIns="0" anchor="t">
            <a:spAutoFit/>
          </a:bodyPr>
          <a:lstStyle/>
          <a:p>
            <a:pPr algn="l"/>
            <a:r>
              <a:rPr sz="1000" b="1" i="0">
                <a:solidFill>
                  <a:srgbClr val="8FA3C2"/>
                </a:solidFill>
                <a:latin typeface="Calibri"/>
              </a:rPr>
              <a:t>IN SIMPLE WORDS</a:t>
            </a:r>
          </a:p>
        </p:txBody>
      </p:sp>
      <p:sp>
        <p:nvSpPr>
          <p:cNvPr id="12" name="TextBox 11"/>
          <p:cNvSpPr txBox="1"/>
          <p:nvPr/>
        </p:nvSpPr>
        <p:spPr>
          <a:xfrm>
            <a:off x="731520" y="2505456"/>
            <a:ext cx="2331720" cy="1188720"/>
          </a:xfrm>
          <a:prstGeom prst="rect">
            <a:avLst/>
          </a:prstGeom>
          <a:noFill/>
        </p:spPr>
        <p:txBody>
          <a:bodyPr wrap="square" lIns="0" rIns="0" tIns="0" bIns="0" anchor="t">
            <a:spAutoFit/>
          </a:bodyPr>
          <a:lstStyle/>
          <a:p>
            <a:pPr algn="l"/>
            <a:r>
              <a:rPr sz="1300" b="0" i="0">
                <a:solidFill>
                  <a:srgbClr val="FFFFFF"/>
                </a:solidFill>
                <a:latin typeface="Calibri"/>
              </a:rPr>
              <a:t>Counts the words in each resume. Rare, specific words (like "Selenium") get more weight than common words (like "work").</a:t>
            </a:r>
          </a:p>
        </p:txBody>
      </p:sp>
      <p:sp>
        <p:nvSpPr>
          <p:cNvPr id="13" name="TextBox 12"/>
          <p:cNvSpPr txBox="1"/>
          <p:nvPr/>
        </p:nvSpPr>
        <p:spPr>
          <a:xfrm>
            <a:off x="731520" y="3749039"/>
            <a:ext cx="2286000" cy="228600"/>
          </a:xfrm>
          <a:prstGeom prst="rect">
            <a:avLst/>
          </a:prstGeom>
          <a:noFill/>
        </p:spPr>
        <p:txBody>
          <a:bodyPr wrap="square" lIns="0" rIns="0" tIns="0" bIns="0" anchor="t">
            <a:spAutoFit/>
          </a:bodyPr>
          <a:lstStyle/>
          <a:p>
            <a:pPr algn="l"/>
            <a:r>
              <a:rPr sz="1000" b="1" i="0">
                <a:solidFill>
                  <a:srgbClr val="8FA3C2"/>
                </a:solidFill>
                <a:latin typeface="Calibri"/>
              </a:rPr>
              <a:t>EXAMPLE</a:t>
            </a:r>
          </a:p>
        </p:txBody>
      </p:sp>
      <p:sp>
        <p:nvSpPr>
          <p:cNvPr id="14" name="TextBox 13"/>
          <p:cNvSpPr txBox="1"/>
          <p:nvPr/>
        </p:nvSpPr>
        <p:spPr>
          <a:xfrm>
            <a:off x="731520" y="3968496"/>
            <a:ext cx="2331720" cy="868680"/>
          </a:xfrm>
          <a:prstGeom prst="rect">
            <a:avLst/>
          </a:prstGeom>
          <a:noFill/>
        </p:spPr>
        <p:txBody>
          <a:bodyPr wrap="square" lIns="0" rIns="0" tIns="0" bIns="0" anchor="t">
            <a:spAutoFit/>
          </a:bodyPr>
          <a:lstStyle/>
          <a:p>
            <a:pPr algn="l"/>
            <a:r>
              <a:rPr sz="1200" b="0" i="1">
                <a:solidFill>
                  <a:srgbClr val="C9DBF5"/>
                </a:solidFill>
                <a:latin typeface="Calibri"/>
              </a:rPr>
              <a:t>Job asks for "Spring Boot" → resumes that mention Spring Boot go up.</a:t>
            </a:r>
          </a:p>
        </p:txBody>
      </p:sp>
      <p:sp>
        <p:nvSpPr>
          <p:cNvPr id="15" name="TextBox 14"/>
          <p:cNvSpPr txBox="1"/>
          <p:nvPr/>
        </p:nvSpPr>
        <p:spPr>
          <a:xfrm>
            <a:off x="731520" y="4892040"/>
            <a:ext cx="2331720" cy="548640"/>
          </a:xfrm>
          <a:prstGeom prst="rect">
            <a:avLst/>
          </a:prstGeom>
          <a:noFill/>
        </p:spPr>
        <p:txBody>
          <a:bodyPr wrap="square" lIns="0" rIns="0" tIns="0" bIns="0" anchor="t">
            <a:spAutoFit/>
          </a:bodyPr>
          <a:lstStyle/>
          <a:p>
            <a:pPr algn="l"/>
            <a:r>
              <a:rPr sz="1200" b="1" i="0">
                <a:solidFill>
                  <a:srgbClr val="34D399"/>
                </a:solidFill>
                <a:latin typeface="Calibri"/>
              </a:rPr>
              <a:t>Good: </a:t>
            </a:r>
            <a:r>
              <a:rPr sz="1200" b="0" i="0">
                <a:solidFill>
                  <a:srgbClr val="C9DBF5"/>
                </a:solidFill>
                <a:latin typeface="Calibri"/>
              </a:rPr>
              <a:t>Very fast and easy to explain</a:t>
            </a:r>
          </a:p>
        </p:txBody>
      </p:sp>
      <p:sp>
        <p:nvSpPr>
          <p:cNvPr id="16" name="TextBox 15"/>
          <p:cNvSpPr txBox="1"/>
          <p:nvPr/>
        </p:nvSpPr>
        <p:spPr>
          <a:xfrm>
            <a:off x="731520" y="5440680"/>
            <a:ext cx="2331720" cy="640080"/>
          </a:xfrm>
          <a:prstGeom prst="rect">
            <a:avLst/>
          </a:prstGeom>
          <a:noFill/>
        </p:spPr>
        <p:txBody>
          <a:bodyPr wrap="square" lIns="0" rIns="0" tIns="0" bIns="0" anchor="t">
            <a:spAutoFit/>
          </a:bodyPr>
          <a:lstStyle/>
          <a:p>
            <a:pPr algn="l"/>
            <a:r>
              <a:rPr sz="1200" b="1" i="0">
                <a:solidFill>
                  <a:srgbClr val="8FA3C2"/>
                </a:solidFill>
                <a:latin typeface="Calibri"/>
              </a:rPr>
              <a:t>Weak: </a:t>
            </a:r>
            <a:r>
              <a:rPr sz="1200" b="0" i="0">
                <a:solidFill>
                  <a:srgbClr val="C9DBF5"/>
                </a:solidFill>
                <a:latin typeface="Calibri"/>
              </a:rPr>
              <a:t>"Developer" and "programmer" look like different words to it</a:t>
            </a:r>
          </a:p>
        </p:txBody>
      </p:sp>
      <p:sp>
        <p:nvSpPr>
          <p:cNvPr id="17" name="Rounded Rectangle 16"/>
          <p:cNvSpPr/>
          <p:nvPr/>
        </p:nvSpPr>
        <p:spPr>
          <a:xfrm>
            <a:off x="3353104" y="1371600"/>
            <a:ext cx="2651760" cy="4800600"/>
          </a:xfrm>
          <a:prstGeom prst="roundRect">
            <a:avLst>
              <a:gd name="adj" fmla="val 8000"/>
            </a:avLst>
          </a:prstGeom>
          <a:solidFill>
            <a:srgbClr val="111F3A"/>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35984" y="1536192"/>
            <a:ext cx="457200" cy="457200"/>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A1226"/>
                </a:solidFill>
                <a:latin typeface="Calibri"/>
              </a:rPr>
              <a:t>2</a:t>
            </a:r>
          </a:p>
        </p:txBody>
      </p:sp>
      <p:sp>
        <p:nvSpPr>
          <p:cNvPr id="19" name="TextBox 18"/>
          <p:cNvSpPr txBox="1"/>
          <p:nvPr/>
        </p:nvSpPr>
        <p:spPr>
          <a:xfrm>
            <a:off x="4102912" y="1517904"/>
            <a:ext cx="1783080" cy="320040"/>
          </a:xfrm>
          <a:prstGeom prst="rect">
            <a:avLst/>
          </a:prstGeom>
          <a:noFill/>
        </p:spPr>
        <p:txBody>
          <a:bodyPr wrap="square" lIns="0" rIns="0" tIns="0" bIns="0" anchor="t">
            <a:spAutoFit/>
          </a:bodyPr>
          <a:lstStyle/>
          <a:p>
            <a:pPr algn="l"/>
            <a:r>
              <a:rPr sz="1700" b="1" i="0">
                <a:solidFill>
                  <a:srgbClr val="FFFFFF"/>
                </a:solidFill>
                <a:latin typeface="Calibri"/>
              </a:rPr>
              <a:t>GloVe</a:t>
            </a:r>
          </a:p>
        </p:txBody>
      </p:sp>
      <p:sp>
        <p:nvSpPr>
          <p:cNvPr id="20" name="TextBox 19"/>
          <p:cNvSpPr txBox="1"/>
          <p:nvPr/>
        </p:nvSpPr>
        <p:spPr>
          <a:xfrm>
            <a:off x="4102912" y="1810512"/>
            <a:ext cx="1783080" cy="274320"/>
          </a:xfrm>
          <a:prstGeom prst="rect">
            <a:avLst/>
          </a:prstGeom>
          <a:noFill/>
        </p:spPr>
        <p:txBody>
          <a:bodyPr wrap="square" lIns="0" rIns="0" tIns="0" bIns="0" anchor="t">
            <a:spAutoFit/>
          </a:bodyPr>
          <a:lstStyle/>
          <a:p>
            <a:pPr algn="l"/>
            <a:r>
              <a:rPr sz="1200" b="1" i="0">
                <a:solidFill>
                  <a:srgbClr val="3B82F6"/>
                </a:solidFill>
                <a:latin typeface="Calibri"/>
              </a:rPr>
              <a:t>Knows related words</a:t>
            </a:r>
          </a:p>
        </p:txBody>
      </p:sp>
      <p:sp>
        <p:nvSpPr>
          <p:cNvPr id="21" name="TextBox 20"/>
          <p:cNvSpPr txBox="1"/>
          <p:nvPr/>
        </p:nvSpPr>
        <p:spPr>
          <a:xfrm>
            <a:off x="3535984" y="2286000"/>
            <a:ext cx="2286000" cy="228600"/>
          </a:xfrm>
          <a:prstGeom prst="rect">
            <a:avLst/>
          </a:prstGeom>
          <a:noFill/>
        </p:spPr>
        <p:txBody>
          <a:bodyPr wrap="square" lIns="0" rIns="0" tIns="0" bIns="0" anchor="t">
            <a:spAutoFit/>
          </a:bodyPr>
          <a:lstStyle/>
          <a:p>
            <a:pPr algn="l"/>
            <a:r>
              <a:rPr sz="1000" b="1" i="0">
                <a:solidFill>
                  <a:srgbClr val="8FA3C2"/>
                </a:solidFill>
                <a:latin typeface="Calibri"/>
              </a:rPr>
              <a:t>IN SIMPLE WORDS</a:t>
            </a:r>
          </a:p>
        </p:txBody>
      </p:sp>
      <p:sp>
        <p:nvSpPr>
          <p:cNvPr id="22" name="TextBox 21"/>
          <p:cNvSpPr txBox="1"/>
          <p:nvPr/>
        </p:nvSpPr>
        <p:spPr>
          <a:xfrm>
            <a:off x="3535984" y="2505456"/>
            <a:ext cx="2331720" cy="1188720"/>
          </a:xfrm>
          <a:prstGeom prst="rect">
            <a:avLst/>
          </a:prstGeom>
          <a:noFill/>
        </p:spPr>
        <p:txBody>
          <a:bodyPr wrap="square" lIns="0" rIns="0" tIns="0" bIns="0" anchor="t">
            <a:spAutoFit/>
          </a:bodyPr>
          <a:lstStyle/>
          <a:p>
            <a:pPr algn="l"/>
            <a:r>
              <a:rPr sz="1300" b="0" i="0">
                <a:solidFill>
                  <a:srgbClr val="FFFFFF"/>
                </a:solidFill>
                <a:latin typeface="Calibri"/>
              </a:rPr>
              <a:t>Uses a ready-made list of 400,000 English words, each stored as 100 numbers. Similar words get similar numbers. A resume = the average of its words.</a:t>
            </a:r>
          </a:p>
        </p:txBody>
      </p:sp>
      <p:sp>
        <p:nvSpPr>
          <p:cNvPr id="23" name="TextBox 22"/>
          <p:cNvSpPr txBox="1"/>
          <p:nvPr/>
        </p:nvSpPr>
        <p:spPr>
          <a:xfrm>
            <a:off x="3535984" y="3749039"/>
            <a:ext cx="2286000" cy="228600"/>
          </a:xfrm>
          <a:prstGeom prst="rect">
            <a:avLst/>
          </a:prstGeom>
          <a:noFill/>
        </p:spPr>
        <p:txBody>
          <a:bodyPr wrap="square" lIns="0" rIns="0" tIns="0" bIns="0" anchor="t">
            <a:spAutoFit/>
          </a:bodyPr>
          <a:lstStyle/>
          <a:p>
            <a:pPr algn="l"/>
            <a:r>
              <a:rPr sz="1000" b="1" i="0">
                <a:solidFill>
                  <a:srgbClr val="8FA3C2"/>
                </a:solidFill>
                <a:latin typeface="Calibri"/>
              </a:rPr>
              <a:t>EXAMPLE</a:t>
            </a:r>
          </a:p>
        </p:txBody>
      </p:sp>
      <p:sp>
        <p:nvSpPr>
          <p:cNvPr id="24" name="TextBox 23"/>
          <p:cNvSpPr txBox="1"/>
          <p:nvPr/>
        </p:nvSpPr>
        <p:spPr>
          <a:xfrm>
            <a:off x="3535984" y="3968496"/>
            <a:ext cx="2331720" cy="868680"/>
          </a:xfrm>
          <a:prstGeom prst="rect">
            <a:avLst/>
          </a:prstGeom>
          <a:noFill/>
        </p:spPr>
        <p:txBody>
          <a:bodyPr wrap="square" lIns="0" rIns="0" tIns="0" bIns="0" anchor="t">
            <a:spAutoFit/>
          </a:bodyPr>
          <a:lstStyle/>
          <a:p>
            <a:pPr algn="l"/>
            <a:r>
              <a:rPr sz="1200" b="0" i="1">
                <a:solidFill>
                  <a:srgbClr val="C9DBF5"/>
                </a:solidFill>
                <a:latin typeface="Calibri"/>
              </a:rPr>
              <a:t>"Doctor" and "physician" are close to each other.</a:t>
            </a:r>
          </a:p>
        </p:txBody>
      </p:sp>
      <p:sp>
        <p:nvSpPr>
          <p:cNvPr id="25" name="TextBox 24"/>
          <p:cNvSpPr txBox="1"/>
          <p:nvPr/>
        </p:nvSpPr>
        <p:spPr>
          <a:xfrm>
            <a:off x="3535984" y="4892040"/>
            <a:ext cx="2331720" cy="548640"/>
          </a:xfrm>
          <a:prstGeom prst="rect">
            <a:avLst/>
          </a:prstGeom>
          <a:noFill/>
        </p:spPr>
        <p:txBody>
          <a:bodyPr wrap="square" lIns="0" rIns="0" tIns="0" bIns="0" anchor="t">
            <a:spAutoFit/>
          </a:bodyPr>
          <a:lstStyle/>
          <a:p>
            <a:pPr algn="l"/>
            <a:r>
              <a:rPr sz="1200" b="1" i="0">
                <a:solidFill>
                  <a:srgbClr val="34D399"/>
                </a:solidFill>
                <a:latin typeface="Calibri"/>
              </a:rPr>
              <a:t>Good: </a:t>
            </a:r>
            <a:r>
              <a:rPr sz="1200" b="0" i="0">
                <a:solidFill>
                  <a:srgbClr val="C9DBF5"/>
                </a:solidFill>
                <a:latin typeface="Calibri"/>
              </a:rPr>
              <a:t>Understands similar words</a:t>
            </a:r>
          </a:p>
        </p:txBody>
      </p:sp>
      <p:sp>
        <p:nvSpPr>
          <p:cNvPr id="26" name="TextBox 25"/>
          <p:cNvSpPr txBox="1"/>
          <p:nvPr/>
        </p:nvSpPr>
        <p:spPr>
          <a:xfrm>
            <a:off x="3535984" y="5440680"/>
            <a:ext cx="2331720" cy="640080"/>
          </a:xfrm>
          <a:prstGeom prst="rect">
            <a:avLst/>
          </a:prstGeom>
          <a:noFill/>
        </p:spPr>
        <p:txBody>
          <a:bodyPr wrap="square" lIns="0" rIns="0" tIns="0" bIns="0" anchor="t">
            <a:spAutoFit/>
          </a:bodyPr>
          <a:lstStyle/>
          <a:p>
            <a:pPr algn="l"/>
            <a:r>
              <a:rPr sz="1200" b="1" i="0">
                <a:solidFill>
                  <a:srgbClr val="8FA3C2"/>
                </a:solidFill>
                <a:latin typeface="Calibri"/>
              </a:rPr>
              <a:t>Weak: </a:t>
            </a:r>
            <a:r>
              <a:rPr sz="1200" b="0" i="0">
                <a:solidFill>
                  <a:srgbClr val="C9DBF5"/>
                </a:solidFill>
                <a:latin typeface="Calibri"/>
              </a:rPr>
              <a:t>Averaging blurs details, so most resumes get close scores</a:t>
            </a:r>
          </a:p>
        </p:txBody>
      </p:sp>
      <p:sp>
        <p:nvSpPr>
          <p:cNvPr id="27" name="Rounded Rectangle 26"/>
          <p:cNvSpPr/>
          <p:nvPr/>
        </p:nvSpPr>
        <p:spPr>
          <a:xfrm>
            <a:off x="6157569" y="1371600"/>
            <a:ext cx="2651760" cy="4800600"/>
          </a:xfrm>
          <a:prstGeom prst="roundRect">
            <a:avLst>
              <a:gd name="adj" fmla="val 8000"/>
            </a:avLst>
          </a:prstGeom>
          <a:solidFill>
            <a:srgbClr val="111F3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340449" y="1536192"/>
            <a:ext cx="457200" cy="457200"/>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A1226"/>
                </a:solidFill>
                <a:latin typeface="Calibri"/>
              </a:rPr>
              <a:t>3</a:t>
            </a:r>
          </a:p>
        </p:txBody>
      </p:sp>
      <p:sp>
        <p:nvSpPr>
          <p:cNvPr id="29" name="TextBox 28"/>
          <p:cNvSpPr txBox="1"/>
          <p:nvPr/>
        </p:nvSpPr>
        <p:spPr>
          <a:xfrm>
            <a:off x="6907377" y="1517904"/>
            <a:ext cx="1783080" cy="320040"/>
          </a:xfrm>
          <a:prstGeom prst="rect">
            <a:avLst/>
          </a:prstGeom>
          <a:noFill/>
        </p:spPr>
        <p:txBody>
          <a:bodyPr wrap="square" lIns="0" rIns="0" tIns="0" bIns="0" anchor="t">
            <a:spAutoFit/>
          </a:bodyPr>
          <a:lstStyle/>
          <a:p>
            <a:pPr algn="l"/>
            <a:r>
              <a:rPr sz="1700" b="1" i="0">
                <a:solidFill>
                  <a:srgbClr val="FFFFFF"/>
                </a:solidFill>
                <a:latin typeface="Calibri"/>
              </a:rPr>
              <a:t>Sentence-BERT</a:t>
            </a:r>
          </a:p>
        </p:txBody>
      </p:sp>
      <p:sp>
        <p:nvSpPr>
          <p:cNvPr id="30" name="TextBox 29"/>
          <p:cNvSpPr txBox="1"/>
          <p:nvPr/>
        </p:nvSpPr>
        <p:spPr>
          <a:xfrm>
            <a:off x="6907377" y="1810512"/>
            <a:ext cx="1783080" cy="274320"/>
          </a:xfrm>
          <a:prstGeom prst="rect">
            <a:avLst/>
          </a:prstGeom>
          <a:noFill/>
        </p:spPr>
        <p:txBody>
          <a:bodyPr wrap="square" lIns="0" rIns="0" tIns="0" bIns="0" anchor="t">
            <a:spAutoFit/>
          </a:bodyPr>
          <a:lstStyle/>
          <a:p>
            <a:pPr algn="l"/>
            <a:r>
              <a:rPr sz="1200" b="1" i="0">
                <a:solidFill>
                  <a:srgbClr val="A78BFA"/>
                </a:solidFill>
                <a:latin typeface="Calibri"/>
              </a:rPr>
              <a:t>Understands the meaning</a:t>
            </a:r>
          </a:p>
        </p:txBody>
      </p:sp>
      <p:sp>
        <p:nvSpPr>
          <p:cNvPr id="31" name="TextBox 30"/>
          <p:cNvSpPr txBox="1"/>
          <p:nvPr/>
        </p:nvSpPr>
        <p:spPr>
          <a:xfrm>
            <a:off x="6340449" y="2286000"/>
            <a:ext cx="2286000" cy="228600"/>
          </a:xfrm>
          <a:prstGeom prst="rect">
            <a:avLst/>
          </a:prstGeom>
          <a:noFill/>
        </p:spPr>
        <p:txBody>
          <a:bodyPr wrap="square" lIns="0" rIns="0" tIns="0" bIns="0" anchor="t">
            <a:spAutoFit/>
          </a:bodyPr>
          <a:lstStyle/>
          <a:p>
            <a:pPr algn="l"/>
            <a:r>
              <a:rPr sz="1000" b="1" i="0">
                <a:solidFill>
                  <a:srgbClr val="8FA3C2"/>
                </a:solidFill>
                <a:latin typeface="Calibri"/>
              </a:rPr>
              <a:t>IN SIMPLE WORDS</a:t>
            </a:r>
          </a:p>
        </p:txBody>
      </p:sp>
      <p:sp>
        <p:nvSpPr>
          <p:cNvPr id="32" name="TextBox 31"/>
          <p:cNvSpPr txBox="1"/>
          <p:nvPr/>
        </p:nvSpPr>
        <p:spPr>
          <a:xfrm>
            <a:off x="6340449" y="2505456"/>
            <a:ext cx="2331720" cy="1188720"/>
          </a:xfrm>
          <a:prstGeom prst="rect">
            <a:avLst/>
          </a:prstGeom>
          <a:noFill/>
        </p:spPr>
        <p:txBody>
          <a:bodyPr wrap="square" lIns="0" rIns="0" tIns="0" bIns="0" anchor="t">
            <a:spAutoFit/>
          </a:bodyPr>
          <a:lstStyle/>
          <a:p>
            <a:pPr algn="l"/>
            <a:r>
              <a:rPr sz="1300" b="0" i="0">
                <a:solidFill>
                  <a:srgbClr val="FFFFFF"/>
                </a:solidFill>
                <a:latin typeface="Calibri"/>
              </a:rPr>
              <a:t>A small pre-trained AI model (bge-small) reads the whole text and turns its meaning into 384 numbers.</a:t>
            </a:r>
          </a:p>
        </p:txBody>
      </p:sp>
      <p:sp>
        <p:nvSpPr>
          <p:cNvPr id="33" name="TextBox 32"/>
          <p:cNvSpPr txBox="1"/>
          <p:nvPr/>
        </p:nvSpPr>
        <p:spPr>
          <a:xfrm>
            <a:off x="6340449" y="3749039"/>
            <a:ext cx="2286000" cy="228600"/>
          </a:xfrm>
          <a:prstGeom prst="rect">
            <a:avLst/>
          </a:prstGeom>
          <a:noFill/>
        </p:spPr>
        <p:txBody>
          <a:bodyPr wrap="square" lIns="0" rIns="0" tIns="0" bIns="0" anchor="t">
            <a:spAutoFit/>
          </a:bodyPr>
          <a:lstStyle/>
          <a:p>
            <a:pPr algn="l"/>
            <a:r>
              <a:rPr sz="1000" b="1" i="0">
                <a:solidFill>
                  <a:srgbClr val="8FA3C2"/>
                </a:solidFill>
                <a:latin typeface="Calibri"/>
              </a:rPr>
              <a:t>EXAMPLE</a:t>
            </a:r>
          </a:p>
        </p:txBody>
      </p:sp>
      <p:sp>
        <p:nvSpPr>
          <p:cNvPr id="34" name="TextBox 33"/>
          <p:cNvSpPr txBox="1"/>
          <p:nvPr/>
        </p:nvSpPr>
        <p:spPr>
          <a:xfrm>
            <a:off x="6340449" y="3968496"/>
            <a:ext cx="2331720" cy="868680"/>
          </a:xfrm>
          <a:prstGeom prst="rect">
            <a:avLst/>
          </a:prstGeom>
          <a:noFill/>
        </p:spPr>
        <p:txBody>
          <a:bodyPr wrap="square" lIns="0" rIns="0" tIns="0" bIns="0" anchor="t">
            <a:spAutoFit/>
          </a:bodyPr>
          <a:lstStyle/>
          <a:p>
            <a:pPr algn="l"/>
            <a:r>
              <a:rPr sz="1200" b="0" i="1">
                <a:solidFill>
                  <a:srgbClr val="C9DBF5"/>
                </a:solidFill>
                <a:latin typeface="Calibri"/>
              </a:rPr>
              <a:t>"Built ML models in Python" matches a Machine Learning job, even with different words.</a:t>
            </a:r>
          </a:p>
        </p:txBody>
      </p:sp>
      <p:sp>
        <p:nvSpPr>
          <p:cNvPr id="35" name="TextBox 34"/>
          <p:cNvSpPr txBox="1"/>
          <p:nvPr/>
        </p:nvSpPr>
        <p:spPr>
          <a:xfrm>
            <a:off x="6340449" y="4892040"/>
            <a:ext cx="2331720" cy="548640"/>
          </a:xfrm>
          <a:prstGeom prst="rect">
            <a:avLst/>
          </a:prstGeom>
          <a:noFill/>
        </p:spPr>
        <p:txBody>
          <a:bodyPr wrap="square" lIns="0" rIns="0" tIns="0" bIns="0" anchor="t">
            <a:spAutoFit/>
          </a:bodyPr>
          <a:lstStyle/>
          <a:p>
            <a:pPr algn="l"/>
            <a:r>
              <a:rPr sz="1200" b="1" i="0">
                <a:solidFill>
                  <a:srgbClr val="34D399"/>
                </a:solidFill>
                <a:latin typeface="Calibri"/>
              </a:rPr>
              <a:t>Good: </a:t>
            </a:r>
            <a:r>
              <a:rPr sz="1200" b="0" i="0">
                <a:solidFill>
                  <a:srgbClr val="C9DBF5"/>
                </a:solidFill>
                <a:latin typeface="Calibri"/>
              </a:rPr>
              <a:t>Understands context and wording</a:t>
            </a:r>
          </a:p>
        </p:txBody>
      </p:sp>
      <p:sp>
        <p:nvSpPr>
          <p:cNvPr id="36" name="TextBox 35"/>
          <p:cNvSpPr txBox="1"/>
          <p:nvPr/>
        </p:nvSpPr>
        <p:spPr>
          <a:xfrm>
            <a:off x="6340449" y="5440680"/>
            <a:ext cx="2331720" cy="640080"/>
          </a:xfrm>
          <a:prstGeom prst="rect">
            <a:avLst/>
          </a:prstGeom>
          <a:noFill/>
        </p:spPr>
        <p:txBody>
          <a:bodyPr wrap="square" lIns="0" rIns="0" tIns="0" bIns="0" anchor="t">
            <a:spAutoFit/>
          </a:bodyPr>
          <a:lstStyle/>
          <a:p>
            <a:pPr algn="l"/>
            <a:r>
              <a:rPr sz="1200" b="1" i="0">
                <a:solidFill>
                  <a:srgbClr val="8FA3C2"/>
                </a:solidFill>
                <a:latin typeface="Calibri"/>
              </a:rPr>
              <a:t>Weak: </a:t>
            </a:r>
            <a:r>
              <a:rPr sz="1200" b="0" i="0">
                <a:solidFill>
                  <a:srgbClr val="C9DBF5"/>
                </a:solidFill>
                <a:latin typeface="Calibri"/>
              </a:rPr>
              <a:t>Slower, and reads only about the first page of a resume</a:t>
            </a:r>
          </a:p>
        </p:txBody>
      </p:sp>
      <p:sp>
        <p:nvSpPr>
          <p:cNvPr id="37" name="Rounded Rectangle 36"/>
          <p:cNvSpPr/>
          <p:nvPr/>
        </p:nvSpPr>
        <p:spPr>
          <a:xfrm>
            <a:off x="8962034" y="1371600"/>
            <a:ext cx="2651760" cy="4800600"/>
          </a:xfrm>
          <a:prstGeom prst="roundRect">
            <a:avLst>
              <a:gd name="adj" fmla="val 8000"/>
            </a:avLst>
          </a:prstGeom>
          <a:solidFill>
            <a:srgbClr val="111F3A"/>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144914" y="1536192"/>
            <a:ext cx="457200" cy="457200"/>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A1226"/>
                </a:solidFill>
                <a:latin typeface="Calibri"/>
              </a:rPr>
              <a:t>4</a:t>
            </a:r>
          </a:p>
        </p:txBody>
      </p:sp>
      <p:sp>
        <p:nvSpPr>
          <p:cNvPr id="39" name="TextBox 38"/>
          <p:cNvSpPr txBox="1"/>
          <p:nvPr/>
        </p:nvSpPr>
        <p:spPr>
          <a:xfrm>
            <a:off x="9711842" y="1517904"/>
            <a:ext cx="1783080" cy="320040"/>
          </a:xfrm>
          <a:prstGeom prst="rect">
            <a:avLst/>
          </a:prstGeom>
          <a:noFill/>
        </p:spPr>
        <p:txBody>
          <a:bodyPr wrap="square" lIns="0" rIns="0" tIns="0" bIns="0" anchor="t">
            <a:spAutoFit/>
          </a:bodyPr>
          <a:lstStyle/>
          <a:p>
            <a:pPr algn="l"/>
            <a:r>
              <a:rPr sz="1700" b="1" i="0">
                <a:solidFill>
                  <a:srgbClr val="FFFFFF"/>
                </a:solidFill>
                <a:latin typeface="Calibri"/>
              </a:rPr>
              <a:t>Hybrid</a:t>
            </a:r>
          </a:p>
        </p:txBody>
      </p:sp>
      <p:sp>
        <p:nvSpPr>
          <p:cNvPr id="40" name="TextBox 39"/>
          <p:cNvSpPr txBox="1"/>
          <p:nvPr/>
        </p:nvSpPr>
        <p:spPr>
          <a:xfrm>
            <a:off x="9711842" y="1810512"/>
            <a:ext cx="1783080" cy="274320"/>
          </a:xfrm>
          <a:prstGeom prst="rect">
            <a:avLst/>
          </a:prstGeom>
          <a:noFill/>
        </p:spPr>
        <p:txBody>
          <a:bodyPr wrap="square" lIns="0" rIns="0" tIns="0" bIns="0" anchor="t">
            <a:spAutoFit/>
          </a:bodyPr>
          <a:lstStyle/>
          <a:p>
            <a:pPr algn="l"/>
            <a:r>
              <a:rPr sz="1200" b="1" i="0">
                <a:solidFill>
                  <a:srgbClr val="34D399"/>
                </a:solidFill>
                <a:latin typeface="Calibri"/>
              </a:rPr>
              <a:t>All three together</a:t>
            </a:r>
          </a:p>
        </p:txBody>
      </p:sp>
      <p:sp>
        <p:nvSpPr>
          <p:cNvPr id="41" name="TextBox 40"/>
          <p:cNvSpPr txBox="1"/>
          <p:nvPr/>
        </p:nvSpPr>
        <p:spPr>
          <a:xfrm>
            <a:off x="9144914" y="2286000"/>
            <a:ext cx="2286000" cy="228600"/>
          </a:xfrm>
          <a:prstGeom prst="rect">
            <a:avLst/>
          </a:prstGeom>
          <a:noFill/>
        </p:spPr>
        <p:txBody>
          <a:bodyPr wrap="square" lIns="0" rIns="0" tIns="0" bIns="0" anchor="t">
            <a:spAutoFit/>
          </a:bodyPr>
          <a:lstStyle/>
          <a:p>
            <a:pPr algn="l"/>
            <a:r>
              <a:rPr sz="1000" b="1" i="0">
                <a:solidFill>
                  <a:srgbClr val="8FA3C2"/>
                </a:solidFill>
                <a:latin typeface="Calibri"/>
              </a:rPr>
              <a:t>IN SIMPLE WORDS</a:t>
            </a:r>
          </a:p>
        </p:txBody>
      </p:sp>
      <p:sp>
        <p:nvSpPr>
          <p:cNvPr id="42" name="TextBox 41"/>
          <p:cNvSpPr txBox="1"/>
          <p:nvPr/>
        </p:nvSpPr>
        <p:spPr>
          <a:xfrm>
            <a:off x="9144914" y="2505456"/>
            <a:ext cx="2331720" cy="1188720"/>
          </a:xfrm>
          <a:prstGeom prst="rect">
            <a:avLst/>
          </a:prstGeom>
          <a:noFill/>
        </p:spPr>
        <p:txBody>
          <a:bodyPr wrap="square" lIns="0" rIns="0" tIns="0" bIns="0" anchor="t">
            <a:spAutoFit/>
          </a:bodyPr>
          <a:lstStyle/>
          <a:p>
            <a:pPr algn="l"/>
            <a:r>
              <a:rPr sz="1300" b="0" i="0">
                <a:solidFill>
                  <a:srgbClr val="FFFFFF"/>
                </a:solidFill>
                <a:latin typeface="Calibri"/>
              </a:rPr>
              <a:t>Takes the three scores and averages them, like three judges giving marks and taking the average.</a:t>
            </a:r>
          </a:p>
        </p:txBody>
      </p:sp>
      <p:sp>
        <p:nvSpPr>
          <p:cNvPr id="43" name="TextBox 42"/>
          <p:cNvSpPr txBox="1"/>
          <p:nvPr/>
        </p:nvSpPr>
        <p:spPr>
          <a:xfrm>
            <a:off x="9144914" y="3749039"/>
            <a:ext cx="2286000" cy="228600"/>
          </a:xfrm>
          <a:prstGeom prst="rect">
            <a:avLst/>
          </a:prstGeom>
          <a:noFill/>
        </p:spPr>
        <p:txBody>
          <a:bodyPr wrap="square" lIns="0" rIns="0" tIns="0" bIns="0" anchor="t">
            <a:spAutoFit/>
          </a:bodyPr>
          <a:lstStyle/>
          <a:p>
            <a:pPr algn="l"/>
            <a:r>
              <a:rPr sz="1000" b="1" i="0">
                <a:solidFill>
                  <a:srgbClr val="8FA3C2"/>
                </a:solidFill>
                <a:latin typeface="Calibri"/>
              </a:rPr>
              <a:t>EXAMPLE</a:t>
            </a:r>
          </a:p>
        </p:txBody>
      </p:sp>
      <p:sp>
        <p:nvSpPr>
          <p:cNvPr id="44" name="TextBox 43"/>
          <p:cNvSpPr txBox="1"/>
          <p:nvPr/>
        </p:nvSpPr>
        <p:spPr>
          <a:xfrm>
            <a:off x="9144914" y="3968496"/>
            <a:ext cx="2331720" cy="868680"/>
          </a:xfrm>
          <a:prstGeom prst="rect">
            <a:avLst/>
          </a:prstGeom>
          <a:noFill/>
        </p:spPr>
        <p:txBody>
          <a:bodyPr wrap="square" lIns="0" rIns="0" tIns="0" bIns="0" anchor="t">
            <a:spAutoFit/>
          </a:bodyPr>
          <a:lstStyle/>
          <a:p>
            <a:pPr algn="l"/>
            <a:r>
              <a:rPr sz="1200" b="0" i="1">
                <a:solidFill>
                  <a:srgbClr val="C9DBF5"/>
                </a:solidFill>
                <a:latin typeface="Calibri"/>
              </a:rPr>
              <a:t>To rank high, a resume needs the right skills, related words and the right overall meaning.</a:t>
            </a:r>
          </a:p>
        </p:txBody>
      </p:sp>
      <p:sp>
        <p:nvSpPr>
          <p:cNvPr id="45" name="TextBox 44"/>
          <p:cNvSpPr txBox="1"/>
          <p:nvPr/>
        </p:nvSpPr>
        <p:spPr>
          <a:xfrm>
            <a:off x="9144914" y="4892040"/>
            <a:ext cx="2331720" cy="548640"/>
          </a:xfrm>
          <a:prstGeom prst="rect">
            <a:avLst/>
          </a:prstGeom>
          <a:noFill/>
        </p:spPr>
        <p:txBody>
          <a:bodyPr wrap="square" lIns="0" rIns="0" tIns="0" bIns="0" anchor="t">
            <a:spAutoFit/>
          </a:bodyPr>
          <a:lstStyle/>
          <a:p>
            <a:pPr algn="l"/>
            <a:r>
              <a:rPr sz="1200" b="1" i="0">
                <a:solidFill>
                  <a:srgbClr val="34D399"/>
                </a:solidFill>
                <a:latin typeface="Calibri"/>
              </a:rPr>
              <a:t>Good: </a:t>
            </a:r>
            <a:r>
              <a:rPr sz="1200" b="0" i="0">
                <a:solidFill>
                  <a:srgbClr val="C9DBF5"/>
                </a:solidFill>
                <a:latin typeface="Calibri"/>
              </a:rPr>
              <a:t>Best result in our test; default in the app</a:t>
            </a:r>
          </a:p>
        </p:txBody>
      </p:sp>
      <p:sp>
        <p:nvSpPr>
          <p:cNvPr id="46" name="TextBox 45"/>
          <p:cNvSpPr txBox="1"/>
          <p:nvPr/>
        </p:nvSpPr>
        <p:spPr>
          <a:xfrm>
            <a:off x="9144914" y="5440680"/>
            <a:ext cx="2331720" cy="640080"/>
          </a:xfrm>
          <a:prstGeom prst="rect">
            <a:avLst/>
          </a:prstGeom>
          <a:noFill/>
        </p:spPr>
        <p:txBody>
          <a:bodyPr wrap="square" lIns="0" rIns="0" tIns="0" bIns="0" anchor="t">
            <a:spAutoFit/>
          </a:bodyPr>
          <a:lstStyle/>
          <a:p>
            <a:pPr algn="l"/>
            <a:r>
              <a:rPr sz="1200" b="1" i="0">
                <a:solidFill>
                  <a:srgbClr val="8FA3C2"/>
                </a:solidFill>
                <a:latin typeface="Calibri"/>
              </a:rPr>
              <a:t>Weak: </a:t>
            </a:r>
            <a:r>
              <a:rPr sz="1200" b="0" i="0">
                <a:solidFill>
                  <a:srgbClr val="C9DBF5"/>
                </a:solidFill>
                <a:latin typeface="Calibri"/>
              </a:rPr>
              <a:t>Needs all three methods ready (GloVe file + AI model)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Eyebrow"/>
          <p:cNvSpPr txBox="1"/>
          <p:nvPr/>
        </p:nvSpPr>
        <p:spPr>
          <a:xfrm>
            <a:off x="548640" y="347472"/>
            <a:ext cx="8229600" cy="274320"/>
          </a:xfrm>
          <a:prstGeom prst="rect">
            <a:avLst/>
          </a:prstGeom>
          <a:noFill/>
        </p:spPr>
        <p:txBody>
          <a:bodyPr wrap="square" lIns="0" rIns="0" tIns="0" bIns="0" anchor="t">
            <a:spAutoFit/>
          </a:bodyPr>
          <a:lstStyle/>
          <a:p>
            <a:pPr algn="l"/>
            <a:r>
              <a:rPr sz="1300" b="1" i="0">
                <a:solidFill>
                  <a:srgbClr val="22D3EE"/>
                </a:solidFill>
                <a:latin typeface="Calibri"/>
              </a:rPr>
              <a:t>IMPLEMENTATION · LIVE DEMO</a:t>
            </a:r>
          </a:p>
        </p:txBody>
      </p:sp>
      <p:sp>
        <p:nvSpPr>
          <p:cNvPr id="4" name="Title"/>
          <p:cNvSpPr txBox="1"/>
          <p:nvPr/>
        </p:nvSpPr>
        <p:spPr>
          <a:xfrm>
            <a:off x="548640" y="603504"/>
            <a:ext cx="11064240" cy="640080"/>
          </a:xfrm>
          <a:prstGeom prst="rect">
            <a:avLst/>
          </a:prstGeom>
          <a:noFill/>
        </p:spPr>
        <p:txBody>
          <a:bodyPr wrap="square" lIns="0" rIns="0" tIns="0" bIns="0" anchor="t">
            <a:spAutoFit/>
          </a:bodyPr>
          <a:lstStyle/>
          <a:p>
            <a:pPr algn="l"/>
            <a:r>
              <a:rPr sz="3400" b="1" i="0">
                <a:solidFill>
                  <a:srgbClr val="FFFFFF"/>
                </a:solidFill>
                <a:latin typeface="Calibri"/>
              </a:rPr>
              <a:t>Our code and the working app</a:t>
            </a:r>
          </a:p>
        </p:txBody>
      </p:sp>
      <p:sp>
        <p:nvSpPr>
          <p:cNvPr id="5" name="Footer"/>
          <p:cNvSpPr txBox="1"/>
          <p:nvPr/>
        </p:nvSpPr>
        <p:spPr>
          <a:xfrm>
            <a:off x="548640" y="6400800"/>
            <a:ext cx="6400800" cy="274320"/>
          </a:xfrm>
          <a:prstGeom prst="rect">
            <a:avLst/>
          </a:prstGeom>
          <a:noFill/>
        </p:spPr>
        <p:txBody>
          <a:bodyPr wrap="square" lIns="0" rIns="0" tIns="0" bIns="0" anchor="t">
            <a:spAutoFit/>
          </a:bodyPr>
          <a:lstStyle/>
          <a:p>
            <a:pPr algn="l"/>
            <a:r>
              <a:rPr sz="1100" b="0" i="0">
                <a:solidFill>
                  <a:srgbClr val="8FA3C2"/>
                </a:solidFill>
                <a:latin typeface="Calibri"/>
              </a:rPr>
              <a:t>Resume Matcher  ·  Milestone 3  ·  Batch 3</a:t>
            </a:r>
          </a:p>
        </p:txBody>
      </p:sp>
      <p:sp>
        <p:nvSpPr>
          <p:cNvPr id="6" name="Slide number"/>
          <p:cNvSpPr txBox="1"/>
          <p:nvPr/>
        </p:nvSpPr>
        <p:spPr>
          <a:xfrm>
            <a:off x="10698480" y="6400800"/>
            <a:ext cx="914400" cy="274320"/>
          </a:xfrm>
          <a:prstGeom prst="rect">
            <a:avLst/>
          </a:prstGeom>
          <a:noFill/>
        </p:spPr>
        <p:txBody>
          <a:bodyPr wrap="square" lIns="0" rIns="0" tIns="0" bIns="0" anchor="t">
            <a:spAutoFit/>
          </a:bodyPr>
          <a:lstStyle/>
          <a:p>
            <a:pPr algn="r"/>
            <a:r>
              <a:rPr sz="1100" b="0" i="0">
                <a:solidFill>
                  <a:srgbClr val="8FA3C2"/>
                </a:solidFill>
                <a:latin typeface="Calibri"/>
              </a:rPr>
              <a:t>5 / 7</a:t>
            </a:r>
          </a:p>
        </p:txBody>
      </p:sp>
      <p:sp>
        <p:nvSpPr>
          <p:cNvPr id="7" name="Rounded Rectangle 6"/>
          <p:cNvSpPr/>
          <p:nvPr/>
        </p:nvSpPr>
        <p:spPr>
          <a:xfrm>
            <a:off x="548640" y="1371600"/>
            <a:ext cx="4343400" cy="749808"/>
          </a:xfrm>
          <a:prstGeom prst="roundRect">
            <a:avLst>
              <a:gd name="adj" fmla="val 8000"/>
            </a:avLst>
          </a:prstGeom>
          <a:solidFill>
            <a:srgbClr val="111F3A"/>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63040"/>
            <a:ext cx="4023360" cy="274320"/>
          </a:xfrm>
          <a:prstGeom prst="rect">
            <a:avLst/>
          </a:prstGeom>
          <a:noFill/>
        </p:spPr>
        <p:txBody>
          <a:bodyPr wrap="square" lIns="0" rIns="0" tIns="0" bIns="0" anchor="t">
            <a:spAutoFit/>
          </a:bodyPr>
          <a:lstStyle/>
          <a:p>
            <a:pPr algn="l"/>
            <a:r>
              <a:rPr sz="1300" b="1" i="0">
                <a:solidFill>
                  <a:srgbClr val="22D3EE"/>
                </a:solidFill>
                <a:latin typeface="Courier New"/>
              </a:rPr>
              <a:t>resume_matcher/preprocessing.py</a:t>
            </a:r>
          </a:p>
        </p:txBody>
      </p:sp>
      <p:sp>
        <p:nvSpPr>
          <p:cNvPr id="9" name="TextBox 8"/>
          <p:cNvSpPr txBox="1"/>
          <p:nvPr/>
        </p:nvSpPr>
        <p:spPr>
          <a:xfrm>
            <a:off x="731520" y="1755648"/>
            <a:ext cx="4023360" cy="320040"/>
          </a:xfrm>
          <a:prstGeom prst="rect">
            <a:avLst/>
          </a:prstGeom>
          <a:noFill/>
        </p:spPr>
        <p:txBody>
          <a:bodyPr wrap="square" lIns="0" rIns="0" tIns="0" bIns="0" anchor="t">
            <a:spAutoFit/>
          </a:bodyPr>
          <a:lstStyle/>
          <a:p>
            <a:pPr algn="l"/>
            <a:r>
              <a:rPr sz="1300" b="0" i="0">
                <a:solidFill>
                  <a:srgbClr val="C9DBF5"/>
                </a:solidFill>
                <a:latin typeface="Calibri"/>
              </a:rPr>
              <a:t>Cleans the text (step 2)</a:t>
            </a:r>
          </a:p>
        </p:txBody>
      </p:sp>
      <p:sp>
        <p:nvSpPr>
          <p:cNvPr id="10" name="Rounded Rectangle 9"/>
          <p:cNvSpPr/>
          <p:nvPr/>
        </p:nvSpPr>
        <p:spPr>
          <a:xfrm>
            <a:off x="548640" y="2258568"/>
            <a:ext cx="4343400" cy="749808"/>
          </a:xfrm>
          <a:prstGeom prst="roundRect">
            <a:avLst>
              <a:gd name="adj" fmla="val 8000"/>
            </a:avLst>
          </a:prstGeom>
          <a:solidFill>
            <a:srgbClr val="111F3A"/>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350008"/>
            <a:ext cx="4023360" cy="274320"/>
          </a:xfrm>
          <a:prstGeom prst="rect">
            <a:avLst/>
          </a:prstGeom>
          <a:noFill/>
        </p:spPr>
        <p:txBody>
          <a:bodyPr wrap="square" lIns="0" rIns="0" tIns="0" bIns="0" anchor="t">
            <a:spAutoFit/>
          </a:bodyPr>
          <a:lstStyle/>
          <a:p>
            <a:pPr algn="l"/>
            <a:r>
              <a:rPr sz="1300" b="1" i="0">
                <a:solidFill>
                  <a:srgbClr val="22D3EE"/>
                </a:solidFill>
                <a:latin typeface="Courier New"/>
              </a:rPr>
              <a:t>resume_matcher/data_loader.py</a:t>
            </a:r>
          </a:p>
        </p:txBody>
      </p:sp>
      <p:sp>
        <p:nvSpPr>
          <p:cNvPr id="12" name="TextBox 11"/>
          <p:cNvSpPr txBox="1"/>
          <p:nvPr/>
        </p:nvSpPr>
        <p:spPr>
          <a:xfrm>
            <a:off x="731520" y="2642615"/>
            <a:ext cx="4023360" cy="320040"/>
          </a:xfrm>
          <a:prstGeom prst="rect">
            <a:avLst/>
          </a:prstGeom>
          <a:noFill/>
        </p:spPr>
        <p:txBody>
          <a:bodyPr wrap="square" lIns="0" rIns="0" tIns="0" bIns="0" anchor="t">
            <a:spAutoFit/>
          </a:bodyPr>
          <a:lstStyle/>
          <a:p>
            <a:pPr algn="l"/>
            <a:r>
              <a:rPr sz="1300" b="0" i="0">
                <a:solidFill>
                  <a:srgbClr val="C9DBF5"/>
                </a:solidFill>
                <a:latin typeface="Calibri"/>
              </a:rPr>
              <a:t>Reads resumes, removes empty and duplicate ones</a:t>
            </a:r>
          </a:p>
        </p:txBody>
      </p:sp>
      <p:sp>
        <p:nvSpPr>
          <p:cNvPr id="13" name="Rounded Rectangle 12"/>
          <p:cNvSpPr/>
          <p:nvPr/>
        </p:nvSpPr>
        <p:spPr>
          <a:xfrm>
            <a:off x="548640" y="3145536"/>
            <a:ext cx="4343400" cy="749808"/>
          </a:xfrm>
          <a:prstGeom prst="roundRect">
            <a:avLst>
              <a:gd name="adj" fmla="val 8000"/>
            </a:avLst>
          </a:prstGeom>
          <a:solidFill>
            <a:srgbClr val="111F3A"/>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236976"/>
            <a:ext cx="4023360" cy="274320"/>
          </a:xfrm>
          <a:prstGeom prst="rect">
            <a:avLst/>
          </a:prstGeom>
          <a:noFill/>
        </p:spPr>
        <p:txBody>
          <a:bodyPr wrap="square" lIns="0" rIns="0" tIns="0" bIns="0" anchor="t">
            <a:spAutoFit/>
          </a:bodyPr>
          <a:lstStyle/>
          <a:p>
            <a:pPr algn="l"/>
            <a:r>
              <a:rPr sz="1300" b="1" i="0">
                <a:solidFill>
                  <a:srgbClr val="22D3EE"/>
                </a:solidFill>
                <a:latin typeface="Courier New"/>
              </a:rPr>
              <a:t>resume_matcher/matcher.py</a:t>
            </a:r>
          </a:p>
        </p:txBody>
      </p:sp>
      <p:sp>
        <p:nvSpPr>
          <p:cNvPr id="15" name="TextBox 14"/>
          <p:cNvSpPr txBox="1"/>
          <p:nvPr/>
        </p:nvSpPr>
        <p:spPr>
          <a:xfrm>
            <a:off x="731520" y="3529584"/>
            <a:ext cx="4023360" cy="320040"/>
          </a:xfrm>
          <a:prstGeom prst="rect">
            <a:avLst/>
          </a:prstGeom>
          <a:noFill/>
        </p:spPr>
        <p:txBody>
          <a:bodyPr wrap="square" lIns="0" rIns="0" tIns="0" bIns="0" anchor="t">
            <a:spAutoFit/>
          </a:bodyPr>
          <a:lstStyle/>
          <a:p>
            <a:pPr algn="l"/>
            <a:r>
              <a:rPr sz="1300" b="0" i="0">
                <a:solidFill>
                  <a:srgbClr val="C9DBF5"/>
                </a:solidFill>
                <a:latin typeface="Calibri"/>
              </a:rPr>
              <a:t>The 4 matching methods and the ranking (steps 3–5)</a:t>
            </a:r>
          </a:p>
        </p:txBody>
      </p:sp>
      <p:sp>
        <p:nvSpPr>
          <p:cNvPr id="16" name="Rounded Rectangle 15"/>
          <p:cNvSpPr/>
          <p:nvPr/>
        </p:nvSpPr>
        <p:spPr>
          <a:xfrm>
            <a:off x="548640" y="4032504"/>
            <a:ext cx="4343400" cy="749808"/>
          </a:xfrm>
          <a:prstGeom prst="roundRect">
            <a:avLst>
              <a:gd name="adj" fmla="val 8000"/>
            </a:avLst>
          </a:prstGeom>
          <a:solidFill>
            <a:srgbClr val="111F3A"/>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123944"/>
            <a:ext cx="4023360" cy="274320"/>
          </a:xfrm>
          <a:prstGeom prst="rect">
            <a:avLst/>
          </a:prstGeom>
          <a:noFill/>
        </p:spPr>
        <p:txBody>
          <a:bodyPr wrap="square" lIns="0" rIns="0" tIns="0" bIns="0" anchor="t">
            <a:spAutoFit/>
          </a:bodyPr>
          <a:lstStyle/>
          <a:p>
            <a:pPr algn="l"/>
            <a:r>
              <a:rPr sz="1300" b="1" i="0">
                <a:solidFill>
                  <a:srgbClr val="22D3EE"/>
                </a:solidFill>
                <a:latin typeface="Courier New"/>
              </a:rPr>
              <a:t>app.py</a:t>
            </a:r>
          </a:p>
        </p:txBody>
      </p:sp>
      <p:sp>
        <p:nvSpPr>
          <p:cNvPr id="18" name="TextBox 17"/>
          <p:cNvSpPr txBox="1"/>
          <p:nvPr/>
        </p:nvSpPr>
        <p:spPr>
          <a:xfrm>
            <a:off x="731520" y="4416552"/>
            <a:ext cx="4023360" cy="320040"/>
          </a:xfrm>
          <a:prstGeom prst="rect">
            <a:avLst/>
          </a:prstGeom>
          <a:noFill/>
        </p:spPr>
        <p:txBody>
          <a:bodyPr wrap="square" lIns="0" rIns="0" tIns="0" bIns="0" anchor="t">
            <a:spAutoFit/>
          </a:bodyPr>
          <a:lstStyle/>
          <a:p>
            <a:pPr algn="l"/>
            <a:r>
              <a:rPr sz="1300" b="0" i="0">
                <a:solidFill>
                  <a:srgbClr val="C9DBF5"/>
                </a:solidFill>
                <a:latin typeface="Calibri"/>
              </a:rPr>
              <a:t>The web page, built with Streamlit</a:t>
            </a:r>
          </a:p>
        </p:txBody>
      </p:sp>
      <p:sp>
        <p:nvSpPr>
          <p:cNvPr id="19" name="Rounded Rectangle 18"/>
          <p:cNvSpPr/>
          <p:nvPr/>
        </p:nvSpPr>
        <p:spPr>
          <a:xfrm>
            <a:off x="548640" y="4919472"/>
            <a:ext cx="4343400" cy="749808"/>
          </a:xfrm>
          <a:prstGeom prst="roundRect">
            <a:avLst>
              <a:gd name="adj" fmla="val 8000"/>
            </a:avLst>
          </a:prstGeom>
          <a:solidFill>
            <a:srgbClr val="111F3A"/>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010912"/>
            <a:ext cx="4023360" cy="274320"/>
          </a:xfrm>
          <a:prstGeom prst="rect">
            <a:avLst/>
          </a:prstGeom>
          <a:noFill/>
        </p:spPr>
        <p:txBody>
          <a:bodyPr wrap="square" lIns="0" rIns="0" tIns="0" bIns="0" anchor="t">
            <a:spAutoFit/>
          </a:bodyPr>
          <a:lstStyle/>
          <a:p>
            <a:pPr algn="l"/>
            <a:r>
              <a:rPr sz="1300" b="1" i="0">
                <a:solidFill>
                  <a:srgbClr val="22D3EE"/>
                </a:solidFill>
                <a:latin typeface="Courier New"/>
              </a:rPr>
              <a:t>evaluate.py</a:t>
            </a:r>
          </a:p>
        </p:txBody>
      </p:sp>
      <p:sp>
        <p:nvSpPr>
          <p:cNvPr id="21" name="TextBox 20"/>
          <p:cNvSpPr txBox="1"/>
          <p:nvPr/>
        </p:nvSpPr>
        <p:spPr>
          <a:xfrm>
            <a:off x="731520" y="5303520"/>
            <a:ext cx="4023360" cy="320040"/>
          </a:xfrm>
          <a:prstGeom prst="rect">
            <a:avLst/>
          </a:prstGeom>
          <a:noFill/>
        </p:spPr>
        <p:txBody>
          <a:bodyPr wrap="square" lIns="0" rIns="0" tIns="0" bIns="0" anchor="t">
            <a:spAutoFit/>
          </a:bodyPr>
          <a:lstStyle/>
          <a:p>
            <a:pPr algn="l"/>
            <a:r>
              <a:rPr sz="1300" b="0" i="0">
                <a:solidFill>
                  <a:srgbClr val="C9DBF5"/>
                </a:solidFill>
                <a:latin typeface="Calibri"/>
              </a:rPr>
              <a:t>Tests which method works best on real data</a:t>
            </a:r>
          </a:p>
        </p:txBody>
      </p:sp>
      <p:sp>
        <p:nvSpPr>
          <p:cNvPr id="22" name="Screenshot frame"/>
          <p:cNvSpPr/>
          <p:nvPr/>
        </p:nvSpPr>
        <p:spPr>
          <a:xfrm>
            <a:off x="5458968" y="1344168"/>
            <a:ext cx="6089903" cy="3547364"/>
          </a:xfrm>
          <a:prstGeom prst="roundRect">
            <a:avLst>
              <a:gd name="adj" fmla="val 2000"/>
            </a:avLst>
          </a:prstGeom>
          <a:solidFill>
            <a:srgbClr val="24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Actual app screenshot" descr="app_screenshot.png"/>
          <p:cNvPicPr>
            <a:picLocks noChangeAspect="1"/>
          </p:cNvPicPr>
          <p:nvPr/>
        </p:nvPicPr>
        <p:blipFill>
          <a:blip r:embed="rId3"/>
          <a:stretch>
            <a:fillRect/>
          </a:stretch>
        </p:blipFill>
        <p:spPr>
          <a:xfrm>
            <a:off x="5486400" y="1371600"/>
            <a:ext cx="6035040" cy="3492500"/>
          </a:xfrm>
          <a:prstGeom prst="rect">
            <a:avLst/>
          </a:prstGeom>
        </p:spPr>
      </p:pic>
      <p:sp>
        <p:nvSpPr>
          <p:cNvPr id="24" name="TextBox 23"/>
          <p:cNvSpPr txBox="1"/>
          <p:nvPr/>
        </p:nvSpPr>
        <p:spPr>
          <a:xfrm>
            <a:off x="5486400" y="4964684"/>
            <a:ext cx="6035040" cy="274320"/>
          </a:xfrm>
          <a:prstGeom prst="rect">
            <a:avLst/>
          </a:prstGeom>
          <a:noFill/>
        </p:spPr>
        <p:txBody>
          <a:bodyPr wrap="square" lIns="0" rIns="0" tIns="0" bIns="0" anchor="t">
            <a:spAutoFit/>
          </a:bodyPr>
          <a:lstStyle/>
          <a:p>
            <a:pPr algn="l"/>
            <a:r>
              <a:rPr sz="1100" b="0" i="1">
                <a:solidFill>
                  <a:srgbClr val="8FA3C2"/>
                </a:solidFill>
                <a:latin typeface="Calibri"/>
              </a:rPr>
              <a:t>Real screenshot: 7 demo resumes, Data Scientist job, Hybrid. Data-science resumes rank first, HR last.</a:t>
            </a:r>
          </a:p>
        </p:txBody>
      </p:sp>
      <p:sp>
        <p:nvSpPr>
          <p:cNvPr id="25" name="Rounded Rectangle 24"/>
          <p:cNvSpPr/>
          <p:nvPr/>
        </p:nvSpPr>
        <p:spPr>
          <a:xfrm>
            <a:off x="5486400" y="5596128"/>
            <a:ext cx="1097280" cy="658368"/>
          </a:xfrm>
          <a:prstGeom prst="roundRect">
            <a:avLst>
              <a:gd name="adj" fmla="val 8000"/>
            </a:avLst>
          </a:prstGeom>
          <a:solidFill>
            <a:srgbClr val="16294B"/>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888736" y="5449824"/>
            <a:ext cx="292608" cy="292608"/>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0A1226"/>
                </a:solidFill>
                <a:latin typeface="Calibri"/>
              </a:rPr>
              <a:t>1</a:t>
            </a:r>
          </a:p>
        </p:txBody>
      </p:sp>
      <p:sp>
        <p:nvSpPr>
          <p:cNvPr id="27" name="TextBox 26"/>
          <p:cNvSpPr txBox="1"/>
          <p:nvPr/>
        </p:nvSpPr>
        <p:spPr>
          <a:xfrm>
            <a:off x="5541264" y="5760720"/>
            <a:ext cx="987552" cy="457200"/>
          </a:xfrm>
          <a:prstGeom prst="rect">
            <a:avLst/>
          </a:prstGeom>
          <a:noFill/>
        </p:spPr>
        <p:txBody>
          <a:bodyPr wrap="square" lIns="0" rIns="0" tIns="0" bIns="0" anchor="ctr">
            <a:spAutoFit/>
          </a:bodyPr>
          <a:lstStyle/>
          <a:p>
            <a:pPr algn="ctr"/>
            <a:r>
              <a:rPr sz="1200" b="0" i="0">
                <a:solidFill>
                  <a:srgbClr val="FFFFFF"/>
                </a:solidFill>
                <a:latin typeface="Calibri"/>
              </a:rPr>
              <a:t>Upload resumes</a:t>
            </a:r>
          </a:p>
        </p:txBody>
      </p:sp>
      <p:sp>
        <p:nvSpPr>
          <p:cNvPr id="28" name="Rounded Rectangle 27"/>
          <p:cNvSpPr/>
          <p:nvPr/>
        </p:nvSpPr>
        <p:spPr>
          <a:xfrm>
            <a:off x="6720840" y="5596128"/>
            <a:ext cx="1097280" cy="658368"/>
          </a:xfrm>
          <a:prstGeom prst="roundRect">
            <a:avLst>
              <a:gd name="adj" fmla="val 8000"/>
            </a:avLst>
          </a:prstGeom>
          <a:solidFill>
            <a:srgbClr val="16294B"/>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123176" y="5449824"/>
            <a:ext cx="292608" cy="292608"/>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0A1226"/>
                </a:solidFill>
                <a:latin typeface="Calibri"/>
              </a:rPr>
              <a:t>2</a:t>
            </a:r>
          </a:p>
        </p:txBody>
      </p:sp>
      <p:sp>
        <p:nvSpPr>
          <p:cNvPr id="30" name="TextBox 29"/>
          <p:cNvSpPr txBox="1"/>
          <p:nvPr/>
        </p:nvSpPr>
        <p:spPr>
          <a:xfrm>
            <a:off x="6775703" y="5760720"/>
            <a:ext cx="987552" cy="457200"/>
          </a:xfrm>
          <a:prstGeom prst="rect">
            <a:avLst/>
          </a:prstGeom>
          <a:noFill/>
        </p:spPr>
        <p:txBody>
          <a:bodyPr wrap="square" lIns="0" rIns="0" tIns="0" bIns="0" anchor="ctr">
            <a:spAutoFit/>
          </a:bodyPr>
          <a:lstStyle/>
          <a:p>
            <a:pPr algn="ctr"/>
            <a:r>
              <a:rPr sz="1200" b="0" i="0">
                <a:solidFill>
                  <a:srgbClr val="FFFFFF"/>
                </a:solidFill>
                <a:latin typeface="Calibri"/>
              </a:rPr>
              <a:t>Paste the job</a:t>
            </a:r>
          </a:p>
        </p:txBody>
      </p:sp>
      <p:sp>
        <p:nvSpPr>
          <p:cNvPr id="31" name="Rounded Rectangle 30"/>
          <p:cNvSpPr/>
          <p:nvPr/>
        </p:nvSpPr>
        <p:spPr>
          <a:xfrm>
            <a:off x="7955279" y="5596128"/>
            <a:ext cx="1097280" cy="658368"/>
          </a:xfrm>
          <a:prstGeom prst="roundRect">
            <a:avLst>
              <a:gd name="adj" fmla="val 8000"/>
            </a:avLst>
          </a:prstGeom>
          <a:solidFill>
            <a:srgbClr val="16294B"/>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357615" y="5449824"/>
            <a:ext cx="292608" cy="292608"/>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0A1226"/>
                </a:solidFill>
                <a:latin typeface="Calibri"/>
              </a:rPr>
              <a:t>3</a:t>
            </a:r>
          </a:p>
        </p:txBody>
      </p:sp>
      <p:sp>
        <p:nvSpPr>
          <p:cNvPr id="33" name="TextBox 32"/>
          <p:cNvSpPr txBox="1"/>
          <p:nvPr/>
        </p:nvSpPr>
        <p:spPr>
          <a:xfrm>
            <a:off x="8010144" y="5760720"/>
            <a:ext cx="987552" cy="457200"/>
          </a:xfrm>
          <a:prstGeom prst="rect">
            <a:avLst/>
          </a:prstGeom>
          <a:noFill/>
        </p:spPr>
        <p:txBody>
          <a:bodyPr wrap="square" lIns="0" rIns="0" tIns="0" bIns="0" anchor="ctr">
            <a:spAutoFit/>
          </a:bodyPr>
          <a:lstStyle/>
          <a:p>
            <a:pPr algn="ctr"/>
            <a:r>
              <a:rPr sz="1200" b="0" i="0">
                <a:solidFill>
                  <a:srgbClr val="FFFFFF"/>
                </a:solidFill>
                <a:latin typeface="Calibri"/>
              </a:rPr>
              <a:t>Pick a method</a:t>
            </a:r>
          </a:p>
        </p:txBody>
      </p:sp>
      <p:sp>
        <p:nvSpPr>
          <p:cNvPr id="34" name="Rounded Rectangle 33"/>
          <p:cNvSpPr/>
          <p:nvPr/>
        </p:nvSpPr>
        <p:spPr>
          <a:xfrm>
            <a:off x="9189720" y="5596128"/>
            <a:ext cx="1097280" cy="658368"/>
          </a:xfrm>
          <a:prstGeom prst="roundRect">
            <a:avLst>
              <a:gd name="adj" fmla="val 8000"/>
            </a:avLst>
          </a:prstGeom>
          <a:solidFill>
            <a:srgbClr val="16294B"/>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592056" y="5449824"/>
            <a:ext cx="292608" cy="292608"/>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0A1226"/>
                </a:solidFill>
                <a:latin typeface="Calibri"/>
              </a:rPr>
              <a:t>4</a:t>
            </a:r>
          </a:p>
        </p:txBody>
      </p:sp>
      <p:sp>
        <p:nvSpPr>
          <p:cNvPr id="36" name="TextBox 35"/>
          <p:cNvSpPr txBox="1"/>
          <p:nvPr/>
        </p:nvSpPr>
        <p:spPr>
          <a:xfrm>
            <a:off x="9244584" y="5760720"/>
            <a:ext cx="987552" cy="457200"/>
          </a:xfrm>
          <a:prstGeom prst="rect">
            <a:avLst/>
          </a:prstGeom>
          <a:noFill/>
        </p:spPr>
        <p:txBody>
          <a:bodyPr wrap="square" lIns="0" rIns="0" tIns="0" bIns="0" anchor="ctr">
            <a:spAutoFit/>
          </a:bodyPr>
          <a:lstStyle/>
          <a:p>
            <a:pPr algn="ctr"/>
            <a:r>
              <a:rPr sz="1200" b="0" i="0">
                <a:solidFill>
                  <a:srgbClr val="FFFFFF"/>
                </a:solidFill>
                <a:latin typeface="Calibri"/>
              </a:rPr>
              <a:t>Click Match</a:t>
            </a:r>
          </a:p>
        </p:txBody>
      </p:sp>
      <p:sp>
        <p:nvSpPr>
          <p:cNvPr id="37" name="Rounded Rectangle 36"/>
          <p:cNvSpPr/>
          <p:nvPr/>
        </p:nvSpPr>
        <p:spPr>
          <a:xfrm>
            <a:off x="10424159" y="5596128"/>
            <a:ext cx="1097280" cy="658368"/>
          </a:xfrm>
          <a:prstGeom prst="roundRect">
            <a:avLst>
              <a:gd name="adj" fmla="val 8000"/>
            </a:avLst>
          </a:prstGeom>
          <a:solidFill>
            <a:srgbClr val="16294B"/>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826495" y="5449824"/>
            <a:ext cx="292608" cy="292608"/>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0A1226"/>
                </a:solidFill>
                <a:latin typeface="Calibri"/>
              </a:rPr>
              <a:t>5</a:t>
            </a:r>
          </a:p>
        </p:txBody>
      </p:sp>
      <p:sp>
        <p:nvSpPr>
          <p:cNvPr id="39" name="TextBox 38"/>
          <p:cNvSpPr txBox="1"/>
          <p:nvPr/>
        </p:nvSpPr>
        <p:spPr>
          <a:xfrm>
            <a:off x="10479024" y="5760720"/>
            <a:ext cx="987552" cy="457200"/>
          </a:xfrm>
          <a:prstGeom prst="rect">
            <a:avLst/>
          </a:prstGeom>
          <a:noFill/>
        </p:spPr>
        <p:txBody>
          <a:bodyPr wrap="square" lIns="0" rIns="0" tIns="0" bIns="0" anchor="ctr">
            <a:spAutoFit/>
          </a:bodyPr>
          <a:lstStyle/>
          <a:p>
            <a:pPr algn="ctr"/>
            <a:r>
              <a:rPr sz="1200" b="0" i="0">
                <a:solidFill>
                  <a:srgbClr val="FFFFFF"/>
                </a:solidFill>
                <a:latin typeface="Calibri"/>
              </a:rPr>
              <a:t>See ranking, download CSV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Eyebrow"/>
          <p:cNvSpPr txBox="1"/>
          <p:nvPr/>
        </p:nvSpPr>
        <p:spPr>
          <a:xfrm>
            <a:off x="548640" y="347472"/>
            <a:ext cx="8229600" cy="274320"/>
          </a:xfrm>
          <a:prstGeom prst="rect">
            <a:avLst/>
          </a:prstGeom>
          <a:noFill/>
        </p:spPr>
        <p:txBody>
          <a:bodyPr wrap="square" lIns="0" rIns="0" tIns="0" bIns="0" anchor="t">
            <a:spAutoFit/>
          </a:bodyPr>
          <a:lstStyle/>
          <a:p>
            <a:pPr algn="l"/>
            <a:r>
              <a:rPr sz="1300" b="1" i="0">
                <a:solidFill>
                  <a:srgbClr val="22D3EE"/>
                </a:solidFill>
                <a:latin typeface="Calibri"/>
              </a:rPr>
              <a:t>EVALUATION · TESTING · RESULTS</a:t>
            </a:r>
          </a:p>
        </p:txBody>
      </p:sp>
      <p:sp>
        <p:nvSpPr>
          <p:cNvPr id="4" name="Title"/>
          <p:cNvSpPr txBox="1"/>
          <p:nvPr/>
        </p:nvSpPr>
        <p:spPr>
          <a:xfrm>
            <a:off x="548640" y="603504"/>
            <a:ext cx="11064240" cy="640080"/>
          </a:xfrm>
          <a:prstGeom prst="rect">
            <a:avLst/>
          </a:prstGeom>
          <a:noFill/>
        </p:spPr>
        <p:txBody>
          <a:bodyPr wrap="square" lIns="0" rIns="0" tIns="0" bIns="0" anchor="t">
            <a:spAutoFit/>
          </a:bodyPr>
          <a:lstStyle/>
          <a:p>
            <a:pPr algn="l"/>
            <a:r>
              <a:rPr sz="3400" b="1" i="0">
                <a:solidFill>
                  <a:srgbClr val="FFFFFF"/>
                </a:solidFill>
                <a:latin typeface="Calibri"/>
              </a:rPr>
              <a:t>Which method works best?</a:t>
            </a:r>
          </a:p>
        </p:txBody>
      </p:sp>
      <p:sp>
        <p:nvSpPr>
          <p:cNvPr id="5" name="Footer"/>
          <p:cNvSpPr txBox="1"/>
          <p:nvPr/>
        </p:nvSpPr>
        <p:spPr>
          <a:xfrm>
            <a:off x="548640" y="6400800"/>
            <a:ext cx="6400800" cy="274320"/>
          </a:xfrm>
          <a:prstGeom prst="rect">
            <a:avLst/>
          </a:prstGeom>
          <a:noFill/>
        </p:spPr>
        <p:txBody>
          <a:bodyPr wrap="square" lIns="0" rIns="0" tIns="0" bIns="0" anchor="t">
            <a:spAutoFit/>
          </a:bodyPr>
          <a:lstStyle/>
          <a:p>
            <a:pPr algn="l"/>
            <a:r>
              <a:rPr sz="1100" b="0" i="0">
                <a:solidFill>
                  <a:srgbClr val="8FA3C2"/>
                </a:solidFill>
                <a:latin typeface="Calibri"/>
              </a:rPr>
              <a:t>Resume Matcher  ·  Milestone 3  ·  Batch 3</a:t>
            </a:r>
          </a:p>
        </p:txBody>
      </p:sp>
      <p:sp>
        <p:nvSpPr>
          <p:cNvPr id="6" name="Slide number"/>
          <p:cNvSpPr txBox="1"/>
          <p:nvPr/>
        </p:nvSpPr>
        <p:spPr>
          <a:xfrm>
            <a:off x="10698480" y="6400800"/>
            <a:ext cx="914400" cy="274320"/>
          </a:xfrm>
          <a:prstGeom prst="rect">
            <a:avLst/>
          </a:prstGeom>
          <a:noFill/>
        </p:spPr>
        <p:txBody>
          <a:bodyPr wrap="square" lIns="0" rIns="0" tIns="0" bIns="0" anchor="t">
            <a:spAutoFit/>
          </a:bodyPr>
          <a:lstStyle/>
          <a:p>
            <a:pPr algn="r"/>
            <a:r>
              <a:rPr sz="1100" b="0" i="0">
                <a:solidFill>
                  <a:srgbClr val="8FA3C2"/>
                </a:solidFill>
                <a:latin typeface="Calibri"/>
              </a:rPr>
              <a:t>6 / 7</a:t>
            </a:r>
          </a:p>
        </p:txBody>
      </p:sp>
      <p:graphicFrame>
        <p:nvGraphicFramePr>
          <p:cNvPr id="7" name="Precision@5 chart"/>
          <p:cNvGraphicFramePr>
            <a:graphicFrameLocks noGrp="1"/>
          </p:cNvGraphicFramePr>
          <p:nvPr/>
        </p:nvGraphicFramePr>
        <p:xfrm>
          <a:off x="548640" y="1325880"/>
          <a:ext cx="6675120" cy="3566160"/>
        </p:xfrm>
        <a:graphic>
          <a:graphicData uri="http://schemas.openxmlformats.org/drawingml/2006/chart">
            <c:chart xmlns:c="http://schemas.openxmlformats.org/drawingml/2006/chart" r:id="rId3"/>
          </a:graphicData>
        </a:graphic>
      </p:graphicFrame>
      <p:sp>
        <p:nvSpPr>
          <p:cNvPr id="8" name="Rounded Rectangle 7"/>
          <p:cNvSpPr/>
          <p:nvPr/>
        </p:nvSpPr>
        <p:spPr>
          <a:xfrm>
            <a:off x="548640" y="4983480"/>
            <a:ext cx="6675120" cy="868680"/>
          </a:xfrm>
          <a:prstGeom prst="roundRect">
            <a:avLst>
              <a:gd name="adj" fmla="val 8000"/>
            </a:avLst>
          </a:prstGeom>
          <a:solidFill>
            <a:srgbClr val="16294B"/>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056632"/>
            <a:ext cx="6355080" cy="777240"/>
          </a:xfrm>
          <a:prstGeom prst="rect">
            <a:avLst/>
          </a:prstGeom>
          <a:noFill/>
        </p:spPr>
        <p:txBody>
          <a:bodyPr wrap="square" lIns="0" rIns="0" tIns="0" bIns="0" anchor="t">
            <a:spAutoFit/>
          </a:bodyPr>
          <a:lstStyle/>
          <a:p>
            <a:pPr algn="l"/>
            <a:r>
              <a:rPr sz="1300" b="1" i="0">
                <a:solidFill>
                  <a:srgbClr val="22D3EE"/>
                </a:solidFill>
                <a:latin typeface="Calibri"/>
              </a:rPr>
              <a:t>How we measured: </a:t>
            </a:r>
            <a:r>
              <a:rPr sz="1300" b="0" i="0">
                <a:solidFill>
                  <a:srgbClr val="C9DBF5"/>
                </a:solidFill>
                <a:latin typeface="Calibri"/>
              </a:rPr>
              <a:t>for 14 tech jobs we looked at the top 5 resumes and checked if their job type fits (e.g. Backend job → Java / Python Developer). Hybrid 0.83 means about 4 out of 5 were a good fit.</a:t>
            </a:r>
          </a:p>
        </p:txBody>
      </p:sp>
      <p:sp>
        <p:nvSpPr>
          <p:cNvPr id="10" name="TextBox 9"/>
          <p:cNvSpPr txBox="1"/>
          <p:nvPr/>
        </p:nvSpPr>
        <p:spPr>
          <a:xfrm>
            <a:off x="7589520" y="1371600"/>
            <a:ext cx="4023360" cy="274320"/>
          </a:xfrm>
          <a:prstGeom prst="rect">
            <a:avLst/>
          </a:prstGeom>
          <a:noFill/>
        </p:spPr>
        <p:txBody>
          <a:bodyPr wrap="square" lIns="0" rIns="0" tIns="0" bIns="0" anchor="t">
            <a:spAutoFit/>
          </a:bodyPr>
          <a:lstStyle/>
          <a:p>
            <a:pPr algn="l"/>
            <a:r>
              <a:rPr sz="1200" b="1" i="0">
                <a:solidFill>
                  <a:srgbClr val="8FA3C2"/>
                </a:solidFill>
                <a:latin typeface="Calibri"/>
              </a:rPr>
              <a:t>WAS THE #1 RESUME A GOOD FIT?  (out of 14 jobs)</a:t>
            </a:r>
          </a:p>
        </p:txBody>
      </p:sp>
      <p:sp>
        <p:nvSpPr>
          <p:cNvPr id="11" name="TextBox 10"/>
          <p:cNvSpPr txBox="1"/>
          <p:nvPr/>
        </p:nvSpPr>
        <p:spPr>
          <a:xfrm>
            <a:off x="7589520" y="1755648"/>
            <a:ext cx="1325880" cy="274320"/>
          </a:xfrm>
          <a:prstGeom prst="rect">
            <a:avLst/>
          </a:prstGeom>
          <a:noFill/>
        </p:spPr>
        <p:txBody>
          <a:bodyPr wrap="square" lIns="0" rIns="0" tIns="0" bIns="0" anchor="t">
            <a:spAutoFit/>
          </a:bodyPr>
          <a:lstStyle/>
          <a:p>
            <a:pPr algn="l"/>
            <a:r>
              <a:rPr sz="1300" b="0" i="0">
                <a:solidFill>
                  <a:srgbClr val="FFFFFF"/>
                </a:solidFill>
                <a:latin typeface="Calibri"/>
              </a:rPr>
              <a:t>TF-IDF</a:t>
            </a:r>
          </a:p>
        </p:txBody>
      </p:sp>
      <p:sp>
        <p:nvSpPr>
          <p:cNvPr id="12" name="Rounded Rectangle 11"/>
          <p:cNvSpPr/>
          <p:nvPr/>
        </p:nvSpPr>
        <p:spPr>
          <a:xfrm>
            <a:off x="8961120" y="1819656"/>
            <a:ext cx="2011680" cy="155448"/>
          </a:xfrm>
          <a:prstGeom prst="roundRect">
            <a:avLst>
              <a:gd name="adj" fmla="val 50000"/>
            </a:avLst>
          </a:prstGeom>
          <a:solidFill>
            <a:srgbClr val="162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961120" y="1819656"/>
            <a:ext cx="1724297" cy="155448"/>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064240" y="1755648"/>
            <a:ext cx="548640" cy="274320"/>
          </a:xfrm>
          <a:prstGeom prst="rect">
            <a:avLst/>
          </a:prstGeom>
          <a:noFill/>
        </p:spPr>
        <p:txBody>
          <a:bodyPr wrap="square" lIns="0" rIns="0" tIns="0" bIns="0" anchor="t">
            <a:spAutoFit/>
          </a:bodyPr>
          <a:lstStyle/>
          <a:p>
            <a:pPr algn="r"/>
            <a:r>
              <a:rPr sz="1300" b="1" i="0">
                <a:solidFill>
                  <a:srgbClr val="FFFFFF"/>
                </a:solidFill>
                <a:latin typeface="Calibri"/>
              </a:rPr>
              <a:t>12/14</a:t>
            </a:r>
          </a:p>
        </p:txBody>
      </p:sp>
      <p:sp>
        <p:nvSpPr>
          <p:cNvPr id="15" name="TextBox 14"/>
          <p:cNvSpPr txBox="1"/>
          <p:nvPr/>
        </p:nvSpPr>
        <p:spPr>
          <a:xfrm>
            <a:off x="7589520" y="2167128"/>
            <a:ext cx="1325880" cy="274320"/>
          </a:xfrm>
          <a:prstGeom prst="rect">
            <a:avLst/>
          </a:prstGeom>
          <a:noFill/>
        </p:spPr>
        <p:txBody>
          <a:bodyPr wrap="square" lIns="0" rIns="0" tIns="0" bIns="0" anchor="t">
            <a:spAutoFit/>
          </a:bodyPr>
          <a:lstStyle/>
          <a:p>
            <a:pPr algn="l"/>
            <a:r>
              <a:rPr sz="1300" b="0" i="0">
                <a:solidFill>
                  <a:srgbClr val="FFFFFF"/>
                </a:solidFill>
                <a:latin typeface="Calibri"/>
              </a:rPr>
              <a:t>GloVe</a:t>
            </a:r>
          </a:p>
        </p:txBody>
      </p:sp>
      <p:sp>
        <p:nvSpPr>
          <p:cNvPr id="16" name="Rounded Rectangle 15"/>
          <p:cNvSpPr/>
          <p:nvPr/>
        </p:nvSpPr>
        <p:spPr>
          <a:xfrm>
            <a:off x="8961120" y="2231136"/>
            <a:ext cx="2011680" cy="155448"/>
          </a:xfrm>
          <a:prstGeom prst="roundRect">
            <a:avLst>
              <a:gd name="adj" fmla="val 50000"/>
            </a:avLst>
          </a:prstGeom>
          <a:solidFill>
            <a:srgbClr val="162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961120" y="2231136"/>
            <a:ext cx="1436914" cy="1554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064240" y="2167128"/>
            <a:ext cx="548640" cy="274320"/>
          </a:xfrm>
          <a:prstGeom prst="rect">
            <a:avLst/>
          </a:prstGeom>
          <a:noFill/>
        </p:spPr>
        <p:txBody>
          <a:bodyPr wrap="square" lIns="0" rIns="0" tIns="0" bIns="0" anchor="t">
            <a:spAutoFit/>
          </a:bodyPr>
          <a:lstStyle/>
          <a:p>
            <a:pPr algn="r"/>
            <a:r>
              <a:rPr sz="1300" b="1" i="0">
                <a:solidFill>
                  <a:srgbClr val="FFFFFF"/>
                </a:solidFill>
                <a:latin typeface="Calibri"/>
              </a:rPr>
              <a:t>10/14</a:t>
            </a:r>
          </a:p>
        </p:txBody>
      </p:sp>
      <p:sp>
        <p:nvSpPr>
          <p:cNvPr id="19" name="TextBox 18"/>
          <p:cNvSpPr txBox="1"/>
          <p:nvPr/>
        </p:nvSpPr>
        <p:spPr>
          <a:xfrm>
            <a:off x="7589520" y="2578608"/>
            <a:ext cx="1325880" cy="274320"/>
          </a:xfrm>
          <a:prstGeom prst="rect">
            <a:avLst/>
          </a:prstGeom>
          <a:noFill/>
        </p:spPr>
        <p:txBody>
          <a:bodyPr wrap="square" lIns="0" rIns="0" tIns="0" bIns="0" anchor="t">
            <a:spAutoFit/>
          </a:bodyPr>
          <a:lstStyle/>
          <a:p>
            <a:pPr algn="l"/>
            <a:r>
              <a:rPr sz="1300" b="0" i="0">
                <a:solidFill>
                  <a:srgbClr val="FFFFFF"/>
                </a:solidFill>
                <a:latin typeface="Calibri"/>
              </a:rPr>
              <a:t>Sentence-BERT</a:t>
            </a:r>
          </a:p>
        </p:txBody>
      </p:sp>
      <p:sp>
        <p:nvSpPr>
          <p:cNvPr id="20" name="Rounded Rectangle 19"/>
          <p:cNvSpPr/>
          <p:nvPr/>
        </p:nvSpPr>
        <p:spPr>
          <a:xfrm>
            <a:off x="8961120" y="2642615"/>
            <a:ext cx="2011680" cy="155448"/>
          </a:xfrm>
          <a:prstGeom prst="roundRect">
            <a:avLst>
              <a:gd name="adj" fmla="val 50000"/>
            </a:avLst>
          </a:prstGeom>
          <a:solidFill>
            <a:srgbClr val="162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961120" y="2642615"/>
            <a:ext cx="1867988" cy="15544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064240" y="2578608"/>
            <a:ext cx="548640" cy="274320"/>
          </a:xfrm>
          <a:prstGeom prst="rect">
            <a:avLst/>
          </a:prstGeom>
          <a:noFill/>
        </p:spPr>
        <p:txBody>
          <a:bodyPr wrap="square" lIns="0" rIns="0" tIns="0" bIns="0" anchor="t">
            <a:spAutoFit/>
          </a:bodyPr>
          <a:lstStyle/>
          <a:p>
            <a:pPr algn="r"/>
            <a:r>
              <a:rPr sz="1300" b="1" i="0">
                <a:solidFill>
                  <a:srgbClr val="FFFFFF"/>
                </a:solidFill>
                <a:latin typeface="Calibri"/>
              </a:rPr>
              <a:t>13/14</a:t>
            </a:r>
          </a:p>
        </p:txBody>
      </p:sp>
      <p:sp>
        <p:nvSpPr>
          <p:cNvPr id="23" name="TextBox 22"/>
          <p:cNvSpPr txBox="1"/>
          <p:nvPr/>
        </p:nvSpPr>
        <p:spPr>
          <a:xfrm>
            <a:off x="7589520" y="2990088"/>
            <a:ext cx="1325880" cy="274320"/>
          </a:xfrm>
          <a:prstGeom prst="rect">
            <a:avLst/>
          </a:prstGeom>
          <a:noFill/>
        </p:spPr>
        <p:txBody>
          <a:bodyPr wrap="square" lIns="0" rIns="0" tIns="0" bIns="0" anchor="t">
            <a:spAutoFit/>
          </a:bodyPr>
          <a:lstStyle/>
          <a:p>
            <a:pPr algn="l"/>
            <a:r>
              <a:rPr sz="1300" b="0" i="0">
                <a:solidFill>
                  <a:srgbClr val="FFFFFF"/>
                </a:solidFill>
                <a:latin typeface="Calibri"/>
              </a:rPr>
              <a:t>Hybrid</a:t>
            </a:r>
          </a:p>
        </p:txBody>
      </p:sp>
      <p:sp>
        <p:nvSpPr>
          <p:cNvPr id="24" name="Rounded Rectangle 23"/>
          <p:cNvSpPr/>
          <p:nvPr/>
        </p:nvSpPr>
        <p:spPr>
          <a:xfrm>
            <a:off x="8961120" y="3054096"/>
            <a:ext cx="2011680" cy="155448"/>
          </a:xfrm>
          <a:prstGeom prst="roundRect">
            <a:avLst>
              <a:gd name="adj" fmla="val 50000"/>
            </a:avLst>
          </a:prstGeom>
          <a:solidFill>
            <a:srgbClr val="162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961120" y="3054096"/>
            <a:ext cx="2011680" cy="155448"/>
          </a:xfrm>
          <a:prstGeom prst="roundRect">
            <a:avLst>
              <a:gd name="adj" fmla="val 50000"/>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064240" y="2990088"/>
            <a:ext cx="548640" cy="274320"/>
          </a:xfrm>
          <a:prstGeom prst="rect">
            <a:avLst/>
          </a:prstGeom>
          <a:noFill/>
        </p:spPr>
        <p:txBody>
          <a:bodyPr wrap="square" lIns="0" rIns="0" tIns="0" bIns="0" anchor="t">
            <a:spAutoFit/>
          </a:bodyPr>
          <a:lstStyle/>
          <a:p>
            <a:pPr algn="r"/>
            <a:r>
              <a:rPr sz="1300" b="1" i="0">
                <a:solidFill>
                  <a:srgbClr val="FFFFFF"/>
                </a:solidFill>
                <a:latin typeface="Calibri"/>
              </a:rPr>
              <a:t>14/14</a:t>
            </a:r>
          </a:p>
        </p:txBody>
      </p:sp>
      <p:sp>
        <p:nvSpPr>
          <p:cNvPr id="27" name="TextBox 26"/>
          <p:cNvSpPr txBox="1"/>
          <p:nvPr/>
        </p:nvSpPr>
        <p:spPr>
          <a:xfrm>
            <a:off x="7589520" y="3566160"/>
            <a:ext cx="4023360" cy="274320"/>
          </a:xfrm>
          <a:prstGeom prst="rect">
            <a:avLst/>
          </a:prstGeom>
          <a:noFill/>
        </p:spPr>
        <p:txBody>
          <a:bodyPr wrap="square" lIns="0" rIns="0" tIns="0" bIns="0" anchor="t">
            <a:spAutoFit/>
          </a:bodyPr>
          <a:lstStyle/>
          <a:p>
            <a:pPr algn="l"/>
            <a:r>
              <a:rPr sz="1200" b="1" i="0">
                <a:solidFill>
                  <a:srgbClr val="8FA3C2"/>
                </a:solidFill>
                <a:latin typeface="Calibri"/>
              </a:rPr>
              <a:t>TESTING</a:t>
            </a:r>
          </a:p>
        </p:txBody>
      </p:sp>
      <p:sp>
        <p:nvSpPr>
          <p:cNvPr id="28" name="Rounded Rectangle 27"/>
          <p:cNvSpPr/>
          <p:nvPr/>
        </p:nvSpPr>
        <p:spPr>
          <a:xfrm>
            <a:off x="7589520" y="3913632"/>
            <a:ext cx="1920240" cy="1143000"/>
          </a:xfrm>
          <a:prstGeom prst="roundRect">
            <a:avLst>
              <a:gd name="adj" fmla="val 8000"/>
            </a:avLst>
          </a:prstGeom>
          <a:solidFill>
            <a:srgbClr val="111F3A"/>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54112" y="3986784"/>
            <a:ext cx="1645920" cy="502920"/>
          </a:xfrm>
          <a:prstGeom prst="rect">
            <a:avLst/>
          </a:prstGeom>
          <a:noFill/>
        </p:spPr>
        <p:txBody>
          <a:bodyPr wrap="square" lIns="0" rIns="0" tIns="0" bIns="0" anchor="t">
            <a:spAutoFit/>
          </a:bodyPr>
          <a:lstStyle/>
          <a:p>
            <a:pPr algn="l"/>
            <a:r>
              <a:rPr sz="2600" b="1" i="0">
                <a:solidFill>
                  <a:srgbClr val="34D399"/>
                </a:solidFill>
                <a:latin typeface="Calibri"/>
              </a:rPr>
              <a:t>119</a:t>
            </a:r>
          </a:p>
        </p:txBody>
      </p:sp>
      <p:sp>
        <p:nvSpPr>
          <p:cNvPr id="30" name="TextBox 29"/>
          <p:cNvSpPr txBox="1"/>
          <p:nvPr/>
        </p:nvSpPr>
        <p:spPr>
          <a:xfrm>
            <a:off x="7754112" y="4480560"/>
            <a:ext cx="1645920" cy="548640"/>
          </a:xfrm>
          <a:prstGeom prst="rect">
            <a:avLst/>
          </a:prstGeom>
          <a:noFill/>
        </p:spPr>
        <p:txBody>
          <a:bodyPr wrap="square" lIns="0" rIns="0" tIns="0" bIns="0" anchor="t">
            <a:spAutoFit/>
          </a:bodyPr>
          <a:lstStyle/>
          <a:p>
            <a:pPr algn="l"/>
            <a:r>
              <a:rPr sz="1200" b="0" i="0">
                <a:solidFill>
                  <a:srgbClr val="C9DBF5"/>
                </a:solidFill>
                <a:latin typeface="Calibri"/>
              </a:rPr>
              <a:t>automated tests, all passing</a:t>
            </a:r>
          </a:p>
        </p:txBody>
      </p:sp>
      <p:sp>
        <p:nvSpPr>
          <p:cNvPr id="31" name="Rounded Rectangle 30"/>
          <p:cNvSpPr/>
          <p:nvPr/>
        </p:nvSpPr>
        <p:spPr>
          <a:xfrm>
            <a:off x="9646920" y="3913632"/>
            <a:ext cx="1920240" cy="1143000"/>
          </a:xfrm>
          <a:prstGeom prst="roundRect">
            <a:avLst>
              <a:gd name="adj" fmla="val 8000"/>
            </a:avLst>
          </a:prstGeom>
          <a:solidFill>
            <a:srgbClr val="111F3A"/>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11512" y="3986784"/>
            <a:ext cx="1645920" cy="502920"/>
          </a:xfrm>
          <a:prstGeom prst="rect">
            <a:avLst/>
          </a:prstGeom>
          <a:noFill/>
        </p:spPr>
        <p:txBody>
          <a:bodyPr wrap="square" lIns="0" rIns="0" tIns="0" bIns="0" anchor="t">
            <a:spAutoFit/>
          </a:bodyPr>
          <a:lstStyle/>
          <a:p>
            <a:pPr algn="l"/>
            <a:r>
              <a:rPr sz="2600" b="1" i="0">
                <a:solidFill>
                  <a:srgbClr val="22D3EE"/>
                </a:solidFill>
                <a:latin typeface="Calibri"/>
              </a:rPr>
              <a:t>16</a:t>
            </a:r>
          </a:p>
        </p:txBody>
      </p:sp>
      <p:sp>
        <p:nvSpPr>
          <p:cNvPr id="33" name="TextBox 32"/>
          <p:cNvSpPr txBox="1"/>
          <p:nvPr/>
        </p:nvSpPr>
        <p:spPr>
          <a:xfrm>
            <a:off x="9811512" y="4480560"/>
            <a:ext cx="1645920" cy="548640"/>
          </a:xfrm>
          <a:prstGeom prst="rect">
            <a:avLst/>
          </a:prstGeom>
          <a:noFill/>
        </p:spPr>
        <p:txBody>
          <a:bodyPr wrap="square" lIns="0" rIns="0" tIns="0" bIns="0" anchor="t">
            <a:spAutoFit/>
          </a:bodyPr>
          <a:lstStyle/>
          <a:p>
            <a:pPr algn="l"/>
            <a:r>
              <a:rPr sz="1200" b="0" i="0">
                <a:solidFill>
                  <a:srgbClr val="C9DBF5"/>
                </a:solidFill>
                <a:latin typeface="Calibri"/>
              </a:rPr>
              <a:t>tech job descriptions written for testing</a:t>
            </a:r>
          </a:p>
        </p:txBody>
      </p:sp>
      <p:sp>
        <p:nvSpPr>
          <p:cNvPr id="34" name="TextBox 33"/>
          <p:cNvSpPr txBox="1"/>
          <p:nvPr/>
        </p:nvSpPr>
        <p:spPr>
          <a:xfrm>
            <a:off x="7589520" y="5212080"/>
            <a:ext cx="4023360" cy="685800"/>
          </a:xfrm>
          <a:prstGeom prst="rect">
            <a:avLst/>
          </a:prstGeom>
          <a:noFill/>
        </p:spPr>
        <p:txBody>
          <a:bodyPr wrap="square" lIns="0" rIns="0" tIns="0" bIns="0" anchor="t">
            <a:spAutoFit/>
          </a:bodyPr>
          <a:lstStyle/>
          <a:p>
            <a:pPr algn="l"/>
            <a:r>
              <a:rPr sz="1200" b="0" i="0">
                <a:solidFill>
                  <a:srgbClr val="C9DBF5"/>
                </a:solidFill>
                <a:latin typeface="Calibri"/>
              </a:rPr>
              <a:t>On the all-industries dataset every method scored low (0.27–0.37), because it has very few software resumes.</a:t>
            </a:r>
          </a:p>
        </p:txBody>
      </p:sp>
      <p:sp>
        <p:nvSpPr>
          <p:cNvPr id="35" name="TextBox 34"/>
          <p:cNvSpPr txBox="1"/>
          <p:nvPr/>
        </p:nvSpPr>
        <p:spPr>
          <a:xfrm>
            <a:off x="548640" y="5943600"/>
            <a:ext cx="11064240" cy="365760"/>
          </a:xfrm>
          <a:prstGeom prst="rect">
            <a:avLst/>
          </a:prstGeom>
          <a:noFill/>
        </p:spPr>
        <p:txBody>
          <a:bodyPr wrap="square" lIns="0" rIns="0" tIns="0" bIns="0" anchor="t">
            <a:spAutoFit/>
          </a:bodyPr>
          <a:lstStyle/>
          <a:p>
            <a:pPr algn="l"/>
            <a:r>
              <a:rPr sz="1200" b="0" i="1">
                <a:solidFill>
                  <a:srgbClr val="8FA3C2"/>
                </a:solidFill>
                <a:latin typeface="Calibri"/>
              </a:rPr>
              <a:t>Honest note: this is a small test, and "job type fits" is only a rough check. The results are a good sign, not a guarantee.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Eyebrow"/>
          <p:cNvSpPr txBox="1"/>
          <p:nvPr/>
        </p:nvSpPr>
        <p:spPr>
          <a:xfrm>
            <a:off x="548640" y="347472"/>
            <a:ext cx="8229600" cy="274320"/>
          </a:xfrm>
          <a:prstGeom prst="rect">
            <a:avLst/>
          </a:prstGeom>
          <a:noFill/>
        </p:spPr>
        <p:txBody>
          <a:bodyPr wrap="square" lIns="0" rIns="0" tIns="0" bIns="0" anchor="t">
            <a:spAutoFit/>
          </a:bodyPr>
          <a:lstStyle/>
          <a:p>
            <a:pPr algn="l"/>
            <a:r>
              <a:rPr sz="1300" b="1" i="0">
                <a:solidFill>
                  <a:srgbClr val="22D3EE"/>
                </a:solidFill>
                <a:latin typeface="Calibri"/>
              </a:rPr>
              <a:t>MILESTONE 3 · LIMITATIONS · NEXT STEPS</a:t>
            </a:r>
          </a:p>
        </p:txBody>
      </p:sp>
      <p:sp>
        <p:nvSpPr>
          <p:cNvPr id="4" name="Title"/>
          <p:cNvSpPr txBox="1"/>
          <p:nvPr/>
        </p:nvSpPr>
        <p:spPr>
          <a:xfrm>
            <a:off x="548640" y="603504"/>
            <a:ext cx="11064240" cy="640080"/>
          </a:xfrm>
          <a:prstGeom prst="rect">
            <a:avLst/>
          </a:prstGeom>
          <a:noFill/>
        </p:spPr>
        <p:txBody>
          <a:bodyPr wrap="square" lIns="0" rIns="0" tIns="0" bIns="0" anchor="t">
            <a:spAutoFit/>
          </a:bodyPr>
          <a:lstStyle/>
          <a:p>
            <a:pPr algn="l"/>
            <a:r>
              <a:rPr sz="3400" b="1" i="0">
                <a:solidFill>
                  <a:srgbClr val="FFFFFF"/>
                </a:solidFill>
                <a:latin typeface="Calibri"/>
              </a:rPr>
              <a:t>Summary</a:t>
            </a:r>
          </a:p>
        </p:txBody>
      </p:sp>
      <p:sp>
        <p:nvSpPr>
          <p:cNvPr id="5" name="Footer"/>
          <p:cNvSpPr txBox="1"/>
          <p:nvPr/>
        </p:nvSpPr>
        <p:spPr>
          <a:xfrm>
            <a:off x="548640" y="6400800"/>
            <a:ext cx="6400800" cy="274320"/>
          </a:xfrm>
          <a:prstGeom prst="rect">
            <a:avLst/>
          </a:prstGeom>
          <a:noFill/>
        </p:spPr>
        <p:txBody>
          <a:bodyPr wrap="square" lIns="0" rIns="0" tIns="0" bIns="0" anchor="t">
            <a:spAutoFit/>
          </a:bodyPr>
          <a:lstStyle/>
          <a:p>
            <a:pPr algn="l"/>
            <a:r>
              <a:rPr sz="1100" b="0" i="0">
                <a:solidFill>
                  <a:srgbClr val="8FA3C2"/>
                </a:solidFill>
                <a:latin typeface="Calibri"/>
              </a:rPr>
              <a:t>Resume Matcher  ·  Milestone 3  ·  Batch 3</a:t>
            </a:r>
          </a:p>
        </p:txBody>
      </p:sp>
      <p:sp>
        <p:nvSpPr>
          <p:cNvPr id="6" name="Slide number"/>
          <p:cNvSpPr txBox="1"/>
          <p:nvPr/>
        </p:nvSpPr>
        <p:spPr>
          <a:xfrm>
            <a:off x="10698480" y="6400800"/>
            <a:ext cx="914400" cy="274320"/>
          </a:xfrm>
          <a:prstGeom prst="rect">
            <a:avLst/>
          </a:prstGeom>
          <a:noFill/>
        </p:spPr>
        <p:txBody>
          <a:bodyPr wrap="square" lIns="0" rIns="0" tIns="0" bIns="0" anchor="t">
            <a:spAutoFit/>
          </a:bodyPr>
          <a:lstStyle/>
          <a:p>
            <a:pPr algn="r"/>
            <a:r>
              <a:rPr sz="1100" b="0" i="0">
                <a:solidFill>
                  <a:srgbClr val="8FA3C2"/>
                </a:solidFill>
                <a:latin typeface="Calibri"/>
              </a:rPr>
              <a:t>7 / 7</a:t>
            </a:r>
          </a:p>
        </p:txBody>
      </p:sp>
      <p:sp>
        <p:nvSpPr>
          <p:cNvPr id="7" name="Rounded Rectangle 6"/>
          <p:cNvSpPr/>
          <p:nvPr/>
        </p:nvSpPr>
        <p:spPr>
          <a:xfrm>
            <a:off x="548640" y="1371600"/>
            <a:ext cx="5852160" cy="1874519"/>
          </a:xfrm>
          <a:prstGeom prst="roundRect">
            <a:avLst>
              <a:gd name="adj" fmla="val 8000"/>
            </a:avLst>
          </a:prstGeom>
          <a:solidFill>
            <a:srgbClr val="111F3A"/>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49808" y="1572768"/>
            <a:ext cx="457200" cy="457200"/>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0A1226"/>
                </a:solidFill>
                <a:latin typeface="Calibri"/>
              </a:rPr>
              <a:t>✓</a:t>
            </a:r>
          </a:p>
        </p:txBody>
      </p:sp>
      <p:sp>
        <p:nvSpPr>
          <p:cNvPr id="9" name="TextBox 8"/>
          <p:cNvSpPr txBox="1"/>
          <p:nvPr/>
        </p:nvSpPr>
        <p:spPr>
          <a:xfrm>
            <a:off x="1371600" y="1600200"/>
            <a:ext cx="4846320" cy="365760"/>
          </a:xfrm>
          <a:prstGeom prst="rect">
            <a:avLst/>
          </a:prstGeom>
          <a:noFill/>
        </p:spPr>
        <p:txBody>
          <a:bodyPr wrap="square" lIns="0" rIns="0" tIns="0" bIns="0" anchor="t">
            <a:spAutoFit/>
          </a:bodyPr>
          <a:lstStyle/>
          <a:p>
            <a:pPr algn="l"/>
            <a:r>
              <a:rPr sz="1700" b="1" i="0">
                <a:solidFill>
                  <a:srgbClr val="FFFFFF"/>
                </a:solidFill>
                <a:latin typeface="Calibri"/>
              </a:rPr>
              <a:t>Design and code match</a:t>
            </a:r>
          </a:p>
        </p:txBody>
      </p:sp>
      <p:sp>
        <p:nvSpPr>
          <p:cNvPr id="10" name="TextBox 9"/>
          <p:cNvSpPr txBox="1"/>
          <p:nvPr/>
        </p:nvSpPr>
        <p:spPr>
          <a:xfrm>
            <a:off x="1371600" y="2103120"/>
            <a:ext cx="4846320" cy="1097280"/>
          </a:xfrm>
          <a:prstGeom prst="rect">
            <a:avLst/>
          </a:prstGeom>
          <a:noFill/>
        </p:spPr>
        <p:txBody>
          <a:bodyPr wrap="square" lIns="0" rIns="0" tIns="0" bIns="0">
            <a:spAutoFit/>
          </a:bodyPr>
          <a:lstStyle/>
          <a:p>
            <a:pPr marL="219456" indent="-219456">
              <a:spcAft>
                <a:spcPts val="400"/>
              </a:spcAft>
              <a:buClr>
                <a:srgbClr val="34D399"/>
              </a:buClr>
              <a:buFont typeface="Arial"/>
              <a:buChar char="•"/>
            </a:pPr>
            <a:r>
              <a:rPr sz="1400">
                <a:solidFill>
                  <a:srgbClr val="FFFFFF"/>
                </a:solidFill>
                <a:latin typeface="Calibri"/>
              </a:rPr>
              <a:t>Each box in our design is a real module in the code</a:t>
            </a:r>
          </a:p>
          <a:p>
            <a:pPr marL="219456" indent="-219456">
              <a:spcAft>
                <a:spcPts val="400"/>
              </a:spcAft>
              <a:buClr>
                <a:srgbClr val="34D399"/>
              </a:buClr>
              <a:buFont typeface="Arial"/>
              <a:buChar char="•"/>
            </a:pPr>
            <a:r>
              <a:rPr sz="1400">
                <a:solidFill>
                  <a:srgbClr val="FFFFFF"/>
                </a:solidFill>
                <a:latin typeface="Calibri"/>
              </a:rPr>
              <a:t>Resumes and jobs are cleaned in exactly the same way</a:t>
            </a:r>
          </a:p>
          <a:p>
            <a:pPr marL="219456" indent="-219456">
              <a:spcAft>
                <a:spcPts val="400"/>
              </a:spcAft>
              <a:buClr>
                <a:srgbClr val="34D399"/>
              </a:buClr>
              <a:buFont typeface="Arial"/>
              <a:buChar char="•"/>
            </a:pPr>
            <a:r>
              <a:rPr sz="1400">
                <a:solidFill>
                  <a:srgbClr val="FFFFFF"/>
                </a:solidFill>
                <a:latin typeface="Calibri"/>
              </a:rPr>
              <a:t>All 4 methods use the same compare-and-rank code</a:t>
            </a:r>
          </a:p>
        </p:txBody>
      </p:sp>
      <p:sp>
        <p:nvSpPr>
          <p:cNvPr id="11" name="Rounded Rectangle 10"/>
          <p:cNvSpPr/>
          <p:nvPr/>
        </p:nvSpPr>
        <p:spPr>
          <a:xfrm>
            <a:off x="548640" y="3429000"/>
            <a:ext cx="5852160" cy="1874519"/>
          </a:xfrm>
          <a:prstGeom prst="roundRect">
            <a:avLst>
              <a:gd name="adj" fmla="val 8000"/>
            </a:avLst>
          </a:prstGeom>
          <a:solidFill>
            <a:srgbClr val="111F3A"/>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49808" y="3630168"/>
            <a:ext cx="457200" cy="457200"/>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0A1226"/>
                </a:solidFill>
                <a:latin typeface="Calibri"/>
              </a:rPr>
              <a:t>✓</a:t>
            </a:r>
          </a:p>
        </p:txBody>
      </p:sp>
      <p:sp>
        <p:nvSpPr>
          <p:cNvPr id="13" name="TextBox 12"/>
          <p:cNvSpPr txBox="1"/>
          <p:nvPr/>
        </p:nvSpPr>
        <p:spPr>
          <a:xfrm>
            <a:off x="1371600" y="3657600"/>
            <a:ext cx="4846320" cy="365760"/>
          </a:xfrm>
          <a:prstGeom prst="rect">
            <a:avLst/>
          </a:prstGeom>
          <a:noFill/>
        </p:spPr>
        <p:txBody>
          <a:bodyPr wrap="square" lIns="0" rIns="0" tIns="0" bIns="0" anchor="t">
            <a:spAutoFit/>
          </a:bodyPr>
          <a:lstStyle/>
          <a:p>
            <a:pPr algn="l"/>
            <a:r>
              <a:rPr sz="1700" b="1" i="0">
                <a:solidFill>
                  <a:srgbClr val="FFFFFF"/>
                </a:solidFill>
                <a:latin typeface="Calibri"/>
              </a:rPr>
              <a:t>Working modules and demo</a:t>
            </a:r>
          </a:p>
        </p:txBody>
      </p:sp>
      <p:sp>
        <p:nvSpPr>
          <p:cNvPr id="14" name="TextBox 13"/>
          <p:cNvSpPr txBox="1"/>
          <p:nvPr/>
        </p:nvSpPr>
        <p:spPr>
          <a:xfrm>
            <a:off x="1371600" y="4160520"/>
            <a:ext cx="4846320" cy="1097280"/>
          </a:xfrm>
          <a:prstGeom prst="rect">
            <a:avLst/>
          </a:prstGeom>
          <a:noFill/>
        </p:spPr>
        <p:txBody>
          <a:bodyPr wrap="square" lIns="0" rIns="0" tIns="0" bIns="0">
            <a:spAutoFit/>
          </a:bodyPr>
          <a:lstStyle/>
          <a:p>
            <a:pPr marL="219456" indent="-219456">
              <a:spcAft>
                <a:spcPts val="400"/>
              </a:spcAft>
              <a:buClr>
                <a:srgbClr val="34D399"/>
              </a:buClr>
              <a:buFont typeface="Arial"/>
              <a:buChar char="•"/>
            </a:pPr>
            <a:r>
              <a:rPr sz="1400">
                <a:solidFill>
                  <a:srgbClr val="FFFFFF"/>
                </a:solidFill>
                <a:latin typeface="Calibri"/>
              </a:rPr>
              <a:t>4 matching methods tested on 2 real datasets</a:t>
            </a:r>
          </a:p>
          <a:p>
            <a:pPr marL="219456" indent="-219456">
              <a:spcAft>
                <a:spcPts val="400"/>
              </a:spcAft>
              <a:buClr>
                <a:srgbClr val="34D399"/>
              </a:buClr>
              <a:buFont typeface="Arial"/>
              <a:buChar char="•"/>
            </a:pPr>
            <a:r>
              <a:rPr sz="1400">
                <a:solidFill>
                  <a:srgbClr val="FFFFFF"/>
                </a:solidFill>
                <a:latin typeface="Calibri"/>
              </a:rPr>
              <a:t>Web app: upload resumes, rank, download CSV</a:t>
            </a:r>
          </a:p>
          <a:p>
            <a:pPr marL="219456" indent="-219456">
              <a:spcAft>
                <a:spcPts val="400"/>
              </a:spcAft>
              <a:buClr>
                <a:srgbClr val="34D399"/>
              </a:buClr>
              <a:buFont typeface="Arial"/>
              <a:buChar char="•"/>
            </a:pPr>
            <a:r>
              <a:rPr sz="1400">
                <a:solidFill>
                  <a:srgbClr val="FFFFFF"/>
                </a:solidFill>
                <a:latin typeface="Calibri"/>
              </a:rPr>
              <a:t>Evaluation script and 119 automated tests</a:t>
            </a:r>
          </a:p>
        </p:txBody>
      </p:sp>
      <p:sp>
        <p:nvSpPr>
          <p:cNvPr id="15" name="Rounded Rectangle 14"/>
          <p:cNvSpPr/>
          <p:nvPr/>
        </p:nvSpPr>
        <p:spPr>
          <a:xfrm>
            <a:off x="6675120" y="1371600"/>
            <a:ext cx="4937760" cy="1874519"/>
          </a:xfrm>
          <a:prstGeom prst="roundRect">
            <a:avLst>
              <a:gd name="adj" fmla="val 8000"/>
            </a:avLst>
          </a:prstGeom>
          <a:solidFill>
            <a:srgbClr val="111F3A"/>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03720" y="1572768"/>
            <a:ext cx="4480560" cy="365760"/>
          </a:xfrm>
          <a:prstGeom prst="rect">
            <a:avLst/>
          </a:prstGeom>
          <a:noFill/>
        </p:spPr>
        <p:txBody>
          <a:bodyPr wrap="square" lIns="0" rIns="0" tIns="0" bIns="0" anchor="t">
            <a:spAutoFit/>
          </a:bodyPr>
          <a:lstStyle/>
          <a:p>
            <a:pPr algn="l"/>
            <a:r>
              <a:rPr sz="1700" b="1" i="0">
                <a:solidFill>
                  <a:srgbClr val="8FA3C2"/>
                </a:solidFill>
                <a:latin typeface="Calibri"/>
              </a:rPr>
              <a:t>Limitations</a:t>
            </a:r>
          </a:p>
        </p:txBody>
      </p:sp>
      <p:sp>
        <p:nvSpPr>
          <p:cNvPr id="17" name="TextBox 16"/>
          <p:cNvSpPr txBox="1"/>
          <p:nvPr/>
        </p:nvSpPr>
        <p:spPr>
          <a:xfrm>
            <a:off x="6903720" y="2057400"/>
            <a:ext cx="4526280" cy="1143000"/>
          </a:xfrm>
          <a:prstGeom prst="rect">
            <a:avLst/>
          </a:prstGeom>
          <a:noFill/>
        </p:spPr>
        <p:txBody>
          <a:bodyPr wrap="square" lIns="0" rIns="0" tIns="0" bIns="0">
            <a:spAutoFit/>
          </a:bodyPr>
          <a:lstStyle/>
          <a:p>
            <a:pPr marL="219456" indent="-219456">
              <a:spcAft>
                <a:spcPts val="400"/>
              </a:spcAft>
              <a:buClr>
                <a:srgbClr val="8FA3C2"/>
              </a:buClr>
              <a:buFont typeface="Arial"/>
              <a:buChar char="•"/>
            </a:pPr>
            <a:r>
              <a:rPr sz="1400">
                <a:solidFill>
                  <a:srgbClr val="FFFFFF"/>
                </a:solidFill>
                <a:latin typeface="Calibri"/>
              </a:rPr>
              <a:t>Small test: only 16 job descriptions</a:t>
            </a:r>
          </a:p>
          <a:p>
            <a:pPr marL="219456" indent="-219456">
              <a:spcAft>
                <a:spcPts val="400"/>
              </a:spcAft>
              <a:buClr>
                <a:srgbClr val="8FA3C2"/>
              </a:buClr>
              <a:buFont typeface="Arial"/>
              <a:buChar char="•"/>
            </a:pPr>
            <a:r>
              <a:rPr sz="1400">
                <a:solidFill>
                  <a:srgbClr val="FFFFFF"/>
                </a:solidFill>
                <a:latin typeface="Calibri"/>
              </a:rPr>
              <a:t>"Job type fits" is only a rough check</a:t>
            </a:r>
          </a:p>
          <a:p>
            <a:pPr marL="219456" indent="-219456">
              <a:spcAft>
                <a:spcPts val="400"/>
              </a:spcAft>
              <a:buClr>
                <a:srgbClr val="8FA3C2"/>
              </a:buClr>
              <a:buFont typeface="Arial"/>
              <a:buChar char="•"/>
            </a:pPr>
            <a:r>
              <a:rPr sz="1400">
                <a:solidFill>
                  <a:srgbClr val="FFFFFF"/>
                </a:solidFill>
                <a:latin typeface="Calibri"/>
              </a:rPr>
              <a:t>No Word (DOCX) files or scanned PDFs yet</a:t>
            </a:r>
          </a:p>
        </p:txBody>
      </p:sp>
      <p:sp>
        <p:nvSpPr>
          <p:cNvPr id="18" name="Rounded Rectangle 17"/>
          <p:cNvSpPr/>
          <p:nvPr/>
        </p:nvSpPr>
        <p:spPr>
          <a:xfrm>
            <a:off x="6675120" y="3429000"/>
            <a:ext cx="4937760" cy="1874519"/>
          </a:xfrm>
          <a:prstGeom prst="roundRect">
            <a:avLst>
              <a:gd name="adj" fmla="val 8000"/>
            </a:avLst>
          </a:prstGeom>
          <a:solidFill>
            <a:srgbClr val="111F3A"/>
          </a:solid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03720" y="3630168"/>
            <a:ext cx="4480560" cy="365760"/>
          </a:xfrm>
          <a:prstGeom prst="rect">
            <a:avLst/>
          </a:prstGeom>
          <a:noFill/>
        </p:spPr>
        <p:txBody>
          <a:bodyPr wrap="square" lIns="0" rIns="0" tIns="0" bIns="0" anchor="t">
            <a:spAutoFit/>
          </a:bodyPr>
          <a:lstStyle/>
          <a:p>
            <a:pPr algn="l"/>
            <a:r>
              <a:rPr sz="1700" b="1" i="0">
                <a:solidFill>
                  <a:srgbClr val="22D3EE"/>
                </a:solidFill>
                <a:latin typeface="Calibri"/>
              </a:rPr>
              <a:t>Next steps</a:t>
            </a:r>
          </a:p>
        </p:txBody>
      </p:sp>
      <p:sp>
        <p:nvSpPr>
          <p:cNvPr id="20" name="TextBox 19"/>
          <p:cNvSpPr txBox="1"/>
          <p:nvPr/>
        </p:nvSpPr>
        <p:spPr>
          <a:xfrm>
            <a:off x="6903720" y="4114800"/>
            <a:ext cx="4526280" cy="1143000"/>
          </a:xfrm>
          <a:prstGeom prst="rect">
            <a:avLst/>
          </a:prstGeom>
          <a:noFill/>
        </p:spPr>
        <p:txBody>
          <a:bodyPr wrap="square" lIns="0" rIns="0" tIns="0" bIns="0">
            <a:spAutoFit/>
          </a:bodyPr>
          <a:lstStyle/>
          <a:p>
            <a:pPr marL="219456" indent="-219456">
              <a:spcAft>
                <a:spcPts val="400"/>
              </a:spcAft>
              <a:buClr>
                <a:srgbClr val="22D3EE"/>
              </a:buClr>
              <a:buFont typeface="Arial"/>
              <a:buChar char="•"/>
            </a:pPr>
            <a:r>
              <a:rPr sz="1400">
                <a:solidFill>
                  <a:srgbClr val="FFFFFF"/>
                </a:solidFill>
                <a:latin typeface="Calibri"/>
              </a:rPr>
              <a:t>Ask real people to mark good matches</a:t>
            </a:r>
          </a:p>
          <a:p>
            <a:pPr marL="219456" indent="-219456">
              <a:spcAft>
                <a:spcPts val="400"/>
              </a:spcAft>
              <a:buClr>
                <a:srgbClr val="22D3EE"/>
              </a:buClr>
              <a:buFont typeface="Arial"/>
              <a:buChar char="•"/>
            </a:pPr>
            <a:r>
              <a:rPr sz="1400">
                <a:solidFill>
                  <a:srgbClr val="FFFFFF"/>
                </a:solidFill>
                <a:latin typeface="Calibri"/>
              </a:rPr>
              <a:t>Show which skills match or are missing</a:t>
            </a:r>
          </a:p>
          <a:p>
            <a:pPr marL="219456" indent="-219456">
              <a:spcAft>
                <a:spcPts val="400"/>
              </a:spcAft>
              <a:buClr>
                <a:srgbClr val="22D3EE"/>
              </a:buClr>
              <a:buFont typeface="Arial"/>
              <a:buChar char="•"/>
            </a:pPr>
            <a:r>
              <a:rPr sz="1400">
                <a:solidFill>
                  <a:srgbClr val="FFFFFF"/>
                </a:solidFill>
                <a:latin typeface="Calibri"/>
              </a:rPr>
              <a:t>Support DOCX files and scanned PDFs</a:t>
            </a:r>
          </a:p>
        </p:txBody>
      </p:sp>
      <p:sp>
        <p:nvSpPr>
          <p:cNvPr id="21" name="TextBox 20"/>
          <p:cNvSpPr txBox="1"/>
          <p:nvPr/>
        </p:nvSpPr>
        <p:spPr>
          <a:xfrm>
            <a:off x="548640" y="5577840"/>
            <a:ext cx="3657600" cy="640080"/>
          </a:xfrm>
          <a:prstGeom prst="rect">
            <a:avLst/>
          </a:prstGeom>
          <a:noFill/>
        </p:spPr>
        <p:txBody>
          <a:bodyPr wrap="square" lIns="0" rIns="0" tIns="0" bIns="0" anchor="t">
            <a:spAutoFit/>
          </a:bodyPr>
          <a:lstStyle/>
          <a:p>
            <a:pPr algn="l"/>
            <a:r>
              <a:rPr sz="3400" b="1" i="0">
                <a:solidFill>
                  <a:srgbClr val="FFFFFF"/>
                </a:solidFill>
                <a:latin typeface="Calibri"/>
              </a:rPr>
              <a:t>Thank You</a:t>
            </a:r>
          </a:p>
        </p:txBody>
      </p:sp>
      <p:sp>
        <p:nvSpPr>
          <p:cNvPr id="22" name="TextBox 21"/>
          <p:cNvSpPr txBox="1"/>
          <p:nvPr/>
        </p:nvSpPr>
        <p:spPr>
          <a:xfrm>
            <a:off x="4206240" y="5742432"/>
            <a:ext cx="7406640" cy="365760"/>
          </a:xfrm>
          <a:prstGeom prst="rect">
            <a:avLst/>
          </a:prstGeom>
          <a:noFill/>
        </p:spPr>
        <p:txBody>
          <a:bodyPr wrap="square" lIns="0" rIns="0" tIns="0" bIns="0" anchor="t">
            <a:spAutoFit/>
          </a:bodyPr>
          <a:lstStyle/>
          <a:p>
            <a:pPr algn="r"/>
            <a:r>
              <a:rPr sz="1500" b="0" i="0">
                <a:solidFill>
                  <a:srgbClr val="22D3EE"/>
                </a:solidFill>
                <a:latin typeface="Calibri"/>
              </a:rPr>
              <a:t>https://github.com/soniraghav217-cmyk/Resume-Matcher.git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Resume Matcher — Milestone 3</dc:title>
  <dc:subject/>
  <dc:creator>Yash Agarwal, Raghav Soni (Batch 3)</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